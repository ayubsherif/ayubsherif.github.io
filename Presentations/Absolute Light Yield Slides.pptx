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  <p:sldMasterId id="2147483751" r:id="rId2"/>
  </p:sldMasterIdLst>
  <p:notesMasterIdLst>
    <p:notesMasterId r:id="rId10"/>
  </p:notesMasterIdLst>
  <p:handoutMasterIdLst>
    <p:handoutMasterId r:id="rId11"/>
  </p:handoutMasterIdLst>
  <p:sldIdLst>
    <p:sldId id="256" r:id="rId3"/>
    <p:sldId id="271" r:id="rId4"/>
    <p:sldId id="272" r:id="rId5"/>
    <p:sldId id="267" r:id="rId6"/>
    <p:sldId id="268" r:id="rId7"/>
    <p:sldId id="269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OSU uCO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636D6E"/>
    <a:srgbClr val="B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2" autoAdjust="0"/>
    <p:restoredTop sz="94617" autoAdjust="0"/>
  </p:normalViewPr>
  <p:slideViewPr>
    <p:cSldViewPr snapToGrid="0" snapToObjects="1">
      <p:cViewPr varScale="1">
        <p:scale>
          <a:sx n="113" d="100"/>
          <a:sy n="113" d="100"/>
        </p:scale>
        <p:origin x="318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-3944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f, Ayub M." userId="6eeaf05d-5105-4c28-83ce-3ccfd094e801" providerId="ADAL" clId="{583DA589-7465-4CEA-A295-9B9B754CB05D}"/>
    <pc:docChg chg="custSel modSld">
      <pc:chgData name="Sherif, Ayub M." userId="6eeaf05d-5105-4c28-83ce-3ccfd094e801" providerId="ADAL" clId="{583DA589-7465-4CEA-A295-9B9B754CB05D}" dt="2022-04-03T12:58:21.383" v="11" actId="20577"/>
      <pc:docMkLst>
        <pc:docMk/>
      </pc:docMkLst>
      <pc:sldChg chg="modSp mod delCm">
        <pc:chgData name="Sherif, Ayub M." userId="6eeaf05d-5105-4c28-83ce-3ccfd094e801" providerId="ADAL" clId="{583DA589-7465-4CEA-A295-9B9B754CB05D}" dt="2022-04-03T12:58:21.383" v="11" actId="20577"/>
        <pc:sldMkLst>
          <pc:docMk/>
          <pc:sldMk cId="2284477403" sldId="256"/>
        </pc:sldMkLst>
        <pc:spChg chg="mod">
          <ac:chgData name="Sherif, Ayub M." userId="6eeaf05d-5105-4c28-83ce-3ccfd094e801" providerId="ADAL" clId="{583DA589-7465-4CEA-A295-9B9B754CB05D}" dt="2022-04-03T12:58:21.383" v="11" actId="20577"/>
          <ac:spMkLst>
            <pc:docMk/>
            <pc:sldMk cId="2284477403" sldId="256"/>
            <ac:spMk id="1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B6E0F-1DB3-5A43-B8F9-5E1E696749DF}" type="datetimeFigureOut">
              <a:t>4/3/2022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1F9FE-B8FF-F345-B45D-636AC2B598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653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C211-ACBD-CB48-B939-364088D2CD6D}" type="datetimeFigureOut">
              <a:t>4/3/2022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4D311-73F7-5D42-B843-E8305C7307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20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pulse height spectrum of a 3” diameter, 3” high BGO crystal when irradiated with 662 keV γ-rays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4D311-73F7-5D42-B843-E8305C7307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29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9192CA-36E7-41DA-953A-4707E483BED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62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3E8931-1EB4-4904-A7EE-1AD4CCCBBA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97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803898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 descr="add specific description" title="add specific title"/>
          <p:cNvSpPr>
            <a:spLocks noGrp="1"/>
          </p:cNvSpPr>
          <p:nvPr>
            <p:ph idx="13"/>
          </p:nvPr>
        </p:nvSpPr>
        <p:spPr>
          <a:xfrm>
            <a:off x="746930" y="1830387"/>
            <a:ext cx="8229600" cy="4525963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>
              <a:defRPr>
                <a:solidFill>
                  <a:srgbClr val="BB0000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3" name="Content Placeholder 2" descr="add specific description" title="add specific title"/>
          <p:cNvSpPr>
            <a:spLocks noGrp="1"/>
          </p:cNvSpPr>
          <p:nvPr>
            <p:ph idx="15" hasCustomPrompt="1"/>
          </p:nvPr>
        </p:nvSpPr>
        <p:spPr>
          <a:xfrm>
            <a:off x="5573888" y="229810"/>
            <a:ext cx="3392206" cy="668812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UNIT NAME HERE</a:t>
            </a:r>
          </a:p>
          <a:p>
            <a:pPr lvl="0"/>
            <a:r>
              <a:rPr lang="en-US" dirty="0"/>
              <a:t>LINE 2 AS NEEDED</a:t>
            </a:r>
          </a:p>
        </p:txBody>
      </p:sp>
      <p:sp>
        <p:nvSpPr>
          <p:cNvPr id="14" name="Content Placeholder 2" descr="add specific description" title="add specific title"/>
          <p:cNvSpPr>
            <a:spLocks noGrp="1"/>
          </p:cNvSpPr>
          <p:nvPr>
            <p:ph idx="16" hasCustomPrompt="1"/>
          </p:nvPr>
        </p:nvSpPr>
        <p:spPr>
          <a:xfrm>
            <a:off x="4315389" y="1052951"/>
            <a:ext cx="4642821" cy="63611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6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TOPIC TITLE HERE</a:t>
            </a:r>
          </a:p>
        </p:txBody>
      </p:sp>
      <p:sp>
        <p:nvSpPr>
          <p:cNvPr id="11" name="Title Placeholder 11"/>
          <p:cNvSpPr>
            <a:spLocks noGrp="1"/>
          </p:cNvSpPr>
          <p:nvPr>
            <p:ph type="title"/>
          </p:nvPr>
        </p:nvSpPr>
        <p:spPr>
          <a:xfrm>
            <a:off x="306917" y="1208106"/>
            <a:ext cx="4180936" cy="508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16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hrase-Word Slide WHIT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 descr="add specific description" title="add specific title"/>
          <p:cNvSpPr>
            <a:spLocks noGrp="1"/>
          </p:cNvSpPr>
          <p:nvPr>
            <p:ph idx="16" hasCustomPrompt="1"/>
          </p:nvPr>
        </p:nvSpPr>
        <p:spPr>
          <a:xfrm>
            <a:off x="651757" y="1734522"/>
            <a:ext cx="7194020" cy="4417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 algn="l">
              <a:lnSpc>
                <a:spcPts val="8400"/>
              </a:lnSpc>
              <a:spcBef>
                <a:spcPts val="0"/>
              </a:spcBef>
              <a:defRPr sz="8000" b="1" baseline="0">
                <a:solidFill>
                  <a:srgbClr val="BB0000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BIG WORD BIG PHRASE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11" name="Content Placeholder 2" descr="add specific description" title="add specific title"/>
          <p:cNvSpPr>
            <a:spLocks noGrp="1"/>
          </p:cNvSpPr>
          <p:nvPr>
            <p:ph idx="15" hasCustomPrompt="1"/>
          </p:nvPr>
        </p:nvSpPr>
        <p:spPr>
          <a:xfrm>
            <a:off x="5573888" y="229810"/>
            <a:ext cx="3392206" cy="668812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UNIT NAME HERE</a:t>
            </a:r>
          </a:p>
          <a:p>
            <a:pPr lvl="0"/>
            <a:r>
              <a:rPr lang="en-US" dirty="0"/>
              <a:t>LINE 2 AS NEEDED</a:t>
            </a:r>
          </a:p>
        </p:txBody>
      </p:sp>
      <p:sp>
        <p:nvSpPr>
          <p:cNvPr id="4" name="Title Placeholder 11"/>
          <p:cNvSpPr>
            <a:spLocks noGrp="1"/>
          </p:cNvSpPr>
          <p:nvPr>
            <p:ph type="title"/>
          </p:nvPr>
        </p:nvSpPr>
        <p:spPr>
          <a:xfrm>
            <a:off x="306917" y="1208106"/>
            <a:ext cx="4180936" cy="508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80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hrase-Word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763857"/>
            <a:ext cx="9144000" cy="6094144"/>
          </a:xfrm>
          <a:prstGeom prst="rect">
            <a:avLst/>
          </a:prstGeom>
          <a:solidFill>
            <a:srgbClr val="B7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BB0000"/>
              </a:solidFill>
            </a:endParaRPr>
          </a:p>
        </p:txBody>
      </p:sp>
      <p:sp>
        <p:nvSpPr>
          <p:cNvPr id="8" name="Content Placeholder 2" descr="add specific description" title="add specific title"/>
          <p:cNvSpPr>
            <a:spLocks noGrp="1"/>
          </p:cNvSpPr>
          <p:nvPr>
            <p:ph idx="15" hasCustomPrompt="1"/>
          </p:nvPr>
        </p:nvSpPr>
        <p:spPr>
          <a:xfrm>
            <a:off x="5573888" y="242139"/>
            <a:ext cx="3392206" cy="668812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UNIT NAME HERE</a:t>
            </a:r>
          </a:p>
          <a:p>
            <a:pPr lvl="0"/>
            <a:r>
              <a:rPr lang="en-US" dirty="0"/>
              <a:t>LINE 2 AS NEEDED</a:t>
            </a:r>
          </a:p>
        </p:txBody>
      </p:sp>
      <p:sp>
        <p:nvSpPr>
          <p:cNvPr id="9" name="Content Placeholder 2" descr="add specific description" title="add specific title"/>
          <p:cNvSpPr>
            <a:spLocks noGrp="1"/>
          </p:cNvSpPr>
          <p:nvPr>
            <p:ph idx="16" hasCustomPrompt="1"/>
          </p:nvPr>
        </p:nvSpPr>
        <p:spPr>
          <a:xfrm>
            <a:off x="651757" y="1734522"/>
            <a:ext cx="7194020" cy="4417350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l">
              <a:lnSpc>
                <a:spcPts val="8400"/>
              </a:lnSpc>
              <a:spcBef>
                <a:spcPts val="0"/>
              </a:spcBef>
              <a:defRPr sz="8000" b="1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BIG WORD</a:t>
            </a:r>
          </a:p>
          <a:p>
            <a:pPr lvl="0"/>
            <a:r>
              <a:rPr lang="en-US" dirty="0"/>
              <a:t>BIG PHRASE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5" name="Title Placeholder 11"/>
          <p:cNvSpPr>
            <a:spLocks noGrp="1"/>
          </p:cNvSpPr>
          <p:nvPr>
            <p:ph type="title"/>
          </p:nvPr>
        </p:nvSpPr>
        <p:spPr>
          <a:xfrm>
            <a:off x="306917" y="1208106"/>
            <a:ext cx="4180936" cy="508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95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 descr="add specific descripton" title="add specific title"/>
          <p:cNvSpPr>
            <a:spLocks noGrp="1"/>
          </p:cNvSpPr>
          <p:nvPr>
            <p:ph idx="15" hasCustomPrompt="1"/>
          </p:nvPr>
        </p:nvSpPr>
        <p:spPr>
          <a:xfrm>
            <a:off x="5573888" y="229810"/>
            <a:ext cx="3392206" cy="668812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UNIT NAME HERE</a:t>
            </a:r>
          </a:p>
          <a:p>
            <a:pPr lvl="0"/>
            <a:r>
              <a:rPr lang="en-US" dirty="0"/>
              <a:t>LINE 2 AS NEEDED</a:t>
            </a:r>
          </a:p>
        </p:txBody>
      </p:sp>
      <p:sp>
        <p:nvSpPr>
          <p:cNvPr id="13" name="Content Placeholder 2" descr="add specific description" title="add specific title"/>
          <p:cNvSpPr>
            <a:spLocks noGrp="1"/>
          </p:cNvSpPr>
          <p:nvPr>
            <p:ph idx="17" hasCustomPrompt="1"/>
          </p:nvPr>
        </p:nvSpPr>
        <p:spPr>
          <a:xfrm>
            <a:off x="4881010" y="5372665"/>
            <a:ext cx="3392206" cy="109402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algn="r">
              <a:lnSpc>
                <a:spcPct val="110000"/>
              </a:lnSpc>
              <a:spcBef>
                <a:spcPts val="0"/>
              </a:spcBef>
              <a:defRPr sz="2400" baseline="-25000">
                <a:solidFill>
                  <a:srgbClr val="BB0000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algn="r">
              <a:lnSpc>
                <a:spcPct val="110000"/>
              </a:lnSpc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–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Firstandlast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Name</a:t>
            </a:r>
          </a:p>
          <a:p>
            <a:pPr algn="r">
              <a:lnSpc>
                <a:spcPct val="110000"/>
              </a:lnSpc>
            </a:pPr>
            <a:r>
              <a:rPr lang="en-US" sz="1800" dirty="0">
                <a:solidFill>
                  <a:schemeClr val="tx1">
                    <a:lumMod val="60000"/>
                    <a:lumOff val="40000"/>
                  </a:schemeClr>
                </a:solidFill>
                <a:cs typeface="Arial"/>
              </a:rPr>
              <a:t>   Optional title line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944698" y="1734523"/>
            <a:ext cx="7200384" cy="3789978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 vert="horz"/>
          <a:lstStyle>
            <a:lvl1pPr algn="ctr">
              <a:defRPr lang="en-US" sz="3200" b="0" smtClean="0">
                <a:solidFill>
                  <a:srgbClr val="BB0032"/>
                </a:solidFill>
                <a:cs typeface="Arial"/>
              </a:defRPr>
            </a:lvl1pPr>
          </a:lstStyle>
          <a:p>
            <a:pPr lvl="0"/>
            <a:r>
              <a:rPr lang="en-US" sz="6500" b="0" dirty="0">
                <a:solidFill>
                  <a:srgbClr val="BB0032"/>
                </a:solidFill>
                <a:latin typeface="+mj-lt"/>
                <a:cs typeface="Arial"/>
              </a:rPr>
              <a:t>“Notable quote</a:t>
            </a:r>
            <a:br>
              <a:rPr lang="en-US" sz="6500" b="0" dirty="0">
                <a:solidFill>
                  <a:srgbClr val="BB0032"/>
                </a:solidFill>
                <a:latin typeface="+mj-lt"/>
                <a:cs typeface="Arial"/>
              </a:rPr>
            </a:br>
            <a:r>
              <a:rPr lang="en-US" sz="6500" b="0" dirty="0">
                <a:solidFill>
                  <a:srgbClr val="BB0032"/>
                </a:solidFill>
                <a:latin typeface="+mj-lt"/>
                <a:cs typeface="Arial"/>
              </a:rPr>
              <a:t>goes right here,</a:t>
            </a:r>
            <a:br>
              <a:rPr lang="en-US" sz="6500" b="0" dirty="0">
                <a:solidFill>
                  <a:srgbClr val="BB0032"/>
                </a:solidFill>
                <a:latin typeface="+mj-lt"/>
                <a:cs typeface="Arial"/>
              </a:rPr>
            </a:br>
            <a:r>
              <a:rPr lang="en-US" sz="6500" b="0" dirty="0">
                <a:solidFill>
                  <a:srgbClr val="BB0032"/>
                </a:solidFill>
                <a:latin typeface="+mj-lt"/>
                <a:cs typeface="Arial"/>
              </a:rPr>
              <a:t>yes right here.”</a:t>
            </a:r>
            <a:endParaRPr lang="en-US" dirty="0"/>
          </a:p>
        </p:txBody>
      </p:sp>
      <p:sp>
        <p:nvSpPr>
          <p:cNvPr id="5" name="Title Placeholder 11"/>
          <p:cNvSpPr>
            <a:spLocks noGrp="1"/>
          </p:cNvSpPr>
          <p:nvPr>
            <p:ph type="title"/>
          </p:nvPr>
        </p:nvSpPr>
        <p:spPr>
          <a:xfrm>
            <a:off x="306917" y="1208106"/>
            <a:ext cx="4180936" cy="508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9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add specific description of photo" title="Add specific title of photo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923936"/>
            <a:ext cx="9144000" cy="5934064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Full slide picture</a:t>
            </a:r>
          </a:p>
        </p:txBody>
      </p:sp>
      <p:sp>
        <p:nvSpPr>
          <p:cNvPr id="11" name="Content Placeholder 2" descr="add specific description " title="add specific title"/>
          <p:cNvSpPr>
            <a:spLocks noGrp="1"/>
          </p:cNvSpPr>
          <p:nvPr>
            <p:ph idx="15" hasCustomPrompt="1"/>
          </p:nvPr>
        </p:nvSpPr>
        <p:spPr>
          <a:xfrm>
            <a:off x="5573888" y="229810"/>
            <a:ext cx="3392206" cy="668812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UNIT NAME HERE</a:t>
            </a:r>
          </a:p>
          <a:p>
            <a:pPr lvl="0"/>
            <a:r>
              <a:rPr lang="en-US" dirty="0"/>
              <a:t>LINE 2 AS NEEDED</a:t>
            </a:r>
          </a:p>
        </p:txBody>
      </p:sp>
      <p:sp>
        <p:nvSpPr>
          <p:cNvPr id="12" name="Content Placeholder 2" descr="add specific description" title="add specific title"/>
          <p:cNvSpPr>
            <a:spLocks noGrp="1"/>
          </p:cNvSpPr>
          <p:nvPr>
            <p:ph idx="14"/>
          </p:nvPr>
        </p:nvSpPr>
        <p:spPr>
          <a:xfrm>
            <a:off x="4868540" y="1436104"/>
            <a:ext cx="3998889" cy="1591385"/>
          </a:xfrm>
          <a:prstGeom prst="rect">
            <a:avLst/>
          </a:prstGeom>
          <a:ln w="19050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/>
          <a:lstStyle>
            <a:lvl1pPr marL="91440">
              <a:lnSpc>
                <a:spcPts val="3440"/>
              </a:lnSpc>
              <a:spcBef>
                <a:spcPts val="0"/>
              </a:spcBef>
              <a:defRPr sz="2000" b="1">
                <a:solidFill>
                  <a:srgbClr val="BB0000"/>
                </a:solidFill>
              </a:defRPr>
            </a:lvl1pPr>
            <a:lvl2pPr marL="91440" indent="182880">
              <a:spcBef>
                <a:spcPts val="200"/>
              </a:spcBef>
              <a:spcAft>
                <a:spcPts val="0"/>
              </a:spcAft>
              <a:buClr>
                <a:srgbClr val="BB0000"/>
              </a:buClr>
              <a:buFont typeface="Arial"/>
              <a:buChar char="•"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" indent="182880">
              <a:spcBef>
                <a:spcPts val="200"/>
              </a:spcBef>
              <a:spcAft>
                <a:spcPts val="0"/>
              </a:spcAft>
              <a:buClr>
                <a:srgbClr val="BB0000"/>
              </a:buCl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Font typeface="Arial"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5" name="Title Placeholder 11"/>
          <p:cNvSpPr>
            <a:spLocks noGrp="1"/>
          </p:cNvSpPr>
          <p:nvPr>
            <p:ph type="title"/>
          </p:nvPr>
        </p:nvSpPr>
        <p:spPr>
          <a:xfrm>
            <a:off x="306917" y="1208106"/>
            <a:ext cx="4180936" cy="508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74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add specific description" title="add specific title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923936"/>
            <a:ext cx="3883850" cy="5934064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r>
              <a:rPr lang="en-US" dirty="0"/>
              <a:t>½ slide picture</a:t>
            </a:r>
          </a:p>
        </p:txBody>
      </p:sp>
      <p:sp>
        <p:nvSpPr>
          <p:cNvPr id="8" name="Content Placeholder 2" descr="add specific description" title="add specific title"/>
          <p:cNvSpPr>
            <a:spLocks noGrp="1"/>
          </p:cNvSpPr>
          <p:nvPr>
            <p:ph idx="14"/>
          </p:nvPr>
        </p:nvSpPr>
        <p:spPr>
          <a:xfrm>
            <a:off x="4137592" y="1830387"/>
            <a:ext cx="4701503" cy="4525963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>
              <a:lnSpc>
                <a:spcPts val="3440"/>
              </a:lnSpc>
              <a:spcBef>
                <a:spcPts val="0"/>
              </a:spcBef>
              <a:defRPr>
                <a:solidFill>
                  <a:srgbClr val="BB0000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 descr="add specific descripton&#10;" title="add specific title"/>
          <p:cNvSpPr>
            <a:spLocks noGrp="1"/>
          </p:cNvSpPr>
          <p:nvPr>
            <p:ph idx="15" hasCustomPrompt="1"/>
          </p:nvPr>
        </p:nvSpPr>
        <p:spPr>
          <a:xfrm>
            <a:off x="5573888" y="229810"/>
            <a:ext cx="3392206" cy="668812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UNIT NAME HERE</a:t>
            </a:r>
          </a:p>
          <a:p>
            <a:pPr lvl="0"/>
            <a:r>
              <a:rPr lang="en-US" dirty="0"/>
              <a:t>LINE 2 AS NEEDED</a:t>
            </a:r>
          </a:p>
        </p:txBody>
      </p:sp>
      <p:sp>
        <p:nvSpPr>
          <p:cNvPr id="13" name="Content Placeholder 2" descr="add specific descripton" title="add specific title"/>
          <p:cNvSpPr>
            <a:spLocks noGrp="1"/>
          </p:cNvSpPr>
          <p:nvPr>
            <p:ph idx="16" hasCustomPrompt="1"/>
          </p:nvPr>
        </p:nvSpPr>
        <p:spPr>
          <a:xfrm>
            <a:off x="4315389" y="1052951"/>
            <a:ext cx="4642821" cy="63611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6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TOPIC TITLE HERE</a:t>
            </a:r>
          </a:p>
        </p:txBody>
      </p:sp>
      <p:sp>
        <p:nvSpPr>
          <p:cNvPr id="6" name="Title Placeholder 11"/>
          <p:cNvSpPr>
            <a:spLocks noGrp="1"/>
          </p:cNvSpPr>
          <p:nvPr>
            <p:ph type="title"/>
          </p:nvPr>
        </p:nvSpPr>
        <p:spPr>
          <a:xfrm>
            <a:off x="306917" y="1208106"/>
            <a:ext cx="4180936" cy="508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68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573888" y="229810"/>
            <a:ext cx="3392206" cy="668812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UNIT NAME HERE</a:t>
            </a:r>
          </a:p>
          <a:p>
            <a:pPr lvl="0"/>
            <a:r>
              <a:rPr lang="en-US" dirty="0"/>
              <a:t>LINE 2 AS NEEDED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6" hasCustomPrompt="1"/>
          </p:nvPr>
        </p:nvSpPr>
        <p:spPr>
          <a:xfrm>
            <a:off x="4315389" y="1052951"/>
            <a:ext cx="4642821" cy="63611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6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TOPIC TITLE HERE</a:t>
            </a:r>
          </a:p>
        </p:txBody>
      </p:sp>
      <p:sp>
        <p:nvSpPr>
          <p:cNvPr id="6" name="Content Placeholder 2" descr="add specific description&#10;" title="add specific title"/>
          <p:cNvSpPr>
            <a:spLocks noGrp="1"/>
          </p:cNvSpPr>
          <p:nvPr>
            <p:ph idx="14"/>
          </p:nvPr>
        </p:nvSpPr>
        <p:spPr>
          <a:xfrm>
            <a:off x="1400403" y="1830387"/>
            <a:ext cx="6527582" cy="4525963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 algn="ctr">
              <a:lnSpc>
                <a:spcPts val="3440"/>
              </a:lnSpc>
              <a:spcBef>
                <a:spcPts val="0"/>
              </a:spcBef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chart/graph/table</a:t>
            </a:r>
          </a:p>
        </p:txBody>
      </p:sp>
      <p:sp>
        <p:nvSpPr>
          <p:cNvPr id="8" name="Title Placeholder 11"/>
          <p:cNvSpPr>
            <a:spLocks noGrp="1"/>
          </p:cNvSpPr>
          <p:nvPr>
            <p:ph type="title"/>
          </p:nvPr>
        </p:nvSpPr>
        <p:spPr>
          <a:xfrm>
            <a:off x="306917" y="1208106"/>
            <a:ext cx="4180936" cy="508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825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3207" y="66675"/>
            <a:ext cx="8149352" cy="307777"/>
          </a:xfrm>
        </p:spPr>
        <p:txBody>
          <a:bodyPr/>
          <a:lstStyle>
            <a:lvl1pPr>
              <a:defRPr sz="2000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" name="Espace réservé du numéro de diapositive 3"/>
          <p:cNvSpPr txBox="1">
            <a:spLocks/>
          </p:cNvSpPr>
          <p:nvPr userDrawn="1"/>
        </p:nvSpPr>
        <p:spPr bwMode="auto">
          <a:xfrm>
            <a:off x="8605894" y="6593356"/>
            <a:ext cx="598488" cy="334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10" tIns="45658" rIns="91310" bIns="45658" anchor="ctr"/>
          <a:lstStyle>
            <a:lvl1pPr defTabSz="912813" eaLnBrk="0" hangingPunct="0">
              <a:defRPr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12813" eaLnBrk="0" hangingPunct="0">
              <a:defRPr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12813" eaLnBrk="0" hangingPunct="0">
              <a:defRPr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12813" eaLnBrk="0" hangingPunct="0">
              <a:defRPr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12813" eaLnBrk="0" hangingPunct="0">
              <a:defRPr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r" eaLnBrk="1" hangingPunct="1"/>
            <a:fld id="{4571445B-0E7C-4549-8DD6-FEFE3FD32193}" type="slidenum">
              <a:rPr lang="fr-FR" sz="1200" b="0">
                <a:solidFill>
                  <a:schemeClr val="bg2"/>
                </a:solidFill>
              </a:rPr>
              <a:pPr algn="r" eaLnBrk="1" hangingPunct="1"/>
              <a:t>‹#›</a:t>
            </a:fld>
            <a:endParaRPr lang="fr-FR" sz="1200" b="0" dirty="0">
              <a:solidFill>
                <a:schemeClr val="bg2"/>
              </a:solidFill>
            </a:endParaRPr>
          </a:p>
        </p:txBody>
      </p:sp>
      <p:sp>
        <p:nvSpPr>
          <p:cNvPr id="9" name="Espace réservé du contenu 2"/>
          <p:cNvSpPr>
            <a:spLocks noGrp="1"/>
          </p:cNvSpPr>
          <p:nvPr>
            <p:ph idx="1"/>
          </p:nvPr>
        </p:nvSpPr>
        <p:spPr>
          <a:xfrm>
            <a:off x="497079" y="968806"/>
            <a:ext cx="8172000" cy="4493219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q"/>
              <a:defRPr sz="1800" b="1"/>
            </a:lvl1pPr>
            <a:lvl2pPr marL="7429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600" b="0"/>
            </a:lvl2pPr>
            <a:lvl3pPr marL="12001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/>
            </a:lvl3pPr>
            <a:lvl4pPr marL="16573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Ø"/>
              <a:defRPr sz="1200" b="0"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742950" lvl="1" indent="-285750" algn="l" defTabSz="914400" rtl="0" eaLnBrk="1" latinLnBrk="0" hangingPunct="1">
              <a:buFont typeface="Wingdings" panose="05000000000000000000" pitchFamily="2" charset="2"/>
              <a:buChar char="Ø"/>
            </a:pPr>
            <a:r>
              <a:rPr lang="en-US" dirty="0"/>
              <a:t>Second level</a:t>
            </a:r>
          </a:p>
          <a:p>
            <a:pPr marL="1200150" lvl="2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657350" lvl="3" indent="-285750" algn="l" defTabSz="914400" rtl="0" eaLnBrk="1" latinLnBrk="0" hangingPunct="1">
              <a:buFont typeface="Wingdings" panose="05000000000000000000" pitchFamily="2" charset="2"/>
              <a:buChar char="Ø"/>
            </a:pPr>
            <a:r>
              <a:rPr lang="en-US" dirty="0"/>
              <a:t>Fourth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837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9460" y="6356350"/>
            <a:ext cx="2133600" cy="36512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D8E7B-AF3B-B444-8E74-E549FC814F53}" type="datetimeFigureOut">
              <a:rPr lang="en-US" smtClean="0"/>
              <a:pPr/>
              <a:t>4/3/2022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74444"/>
            <a:ext cx="9144000" cy="2962806"/>
          </a:xfrm>
          <a:prstGeom prst="rect">
            <a:avLst/>
          </a:prstGeom>
          <a:solidFill>
            <a:srgbClr val="B7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title="The Ohio State University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50" y="1600201"/>
            <a:ext cx="6424083" cy="93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12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910167"/>
            <a:chOff x="0" y="1040406"/>
            <a:chExt cx="9144000" cy="910167"/>
          </a:xfrm>
        </p:grpSpPr>
        <p:sp>
          <p:nvSpPr>
            <p:cNvPr id="8" name="Rectangle 7"/>
            <p:cNvSpPr/>
            <p:nvPr/>
          </p:nvSpPr>
          <p:spPr>
            <a:xfrm>
              <a:off x="0" y="1040406"/>
              <a:ext cx="9144000" cy="910167"/>
            </a:xfrm>
            <a:prstGeom prst="rect">
              <a:avLst/>
            </a:prstGeom>
            <a:solidFill>
              <a:srgbClr val="B70F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TheOhioStateUniversity-REV-Horiz-RGBHEX.png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917" y="1238314"/>
              <a:ext cx="3284042" cy="476186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 userDrawn="1"/>
        </p:nvSpPr>
        <p:spPr>
          <a:xfrm>
            <a:off x="8518368" y="6351239"/>
            <a:ext cx="4354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5C881AA-F0C4-B947-803C-EA0A96934EAC}" type="slidenum">
              <a:rPr lang="en-US" sz="1600" smtClean="0">
                <a:solidFill>
                  <a:srgbClr val="636D6E"/>
                </a:solidFill>
              </a:rPr>
              <a:pPr/>
              <a:t>‹#›</a:t>
            </a:fld>
            <a:endParaRPr lang="en-US" sz="1600" dirty="0">
              <a:solidFill>
                <a:srgbClr val="636D6E"/>
              </a:solidFill>
            </a:endParaRPr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306917" y="1208106"/>
            <a:ext cx="4180936" cy="508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3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4" r:id="rId2"/>
    <p:sldLayoutId id="2147483769" r:id="rId3"/>
    <p:sldLayoutId id="2147483767" r:id="rId4"/>
    <p:sldLayoutId id="2147483758" r:id="rId5"/>
    <p:sldLayoutId id="2147483768" r:id="rId6"/>
    <p:sldLayoutId id="2147483763" r:id="rId7"/>
    <p:sldLayoutId id="214748377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-228600" algn="l" defTabSz="457200" rtl="0" eaLnBrk="1" latinLnBrk="0" hangingPunct="1"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0" algn="l" defTabSz="457200" rtl="0" eaLnBrk="1" latinLnBrk="0" hangingPunct="1">
        <a:spcBef>
          <a:spcPts val="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2"/>
          <p:cNvSpPr txBox="1">
            <a:spLocks/>
          </p:cNvSpPr>
          <p:nvPr/>
        </p:nvSpPr>
        <p:spPr>
          <a:xfrm>
            <a:off x="0" y="3744003"/>
            <a:ext cx="9013371" cy="823382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4000" kern="1200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Absolute Light Yield Measurement</a:t>
            </a:r>
            <a:endParaRPr lang="en-US" dirty="0"/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1413015" y="4567385"/>
            <a:ext cx="6400800" cy="823382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4000" kern="1200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Ayub Sherif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447740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59" t="36828" r="23124" b="10986"/>
          <a:stretch/>
        </p:blipFill>
        <p:spPr bwMode="auto">
          <a:xfrm>
            <a:off x="6392439" y="2170746"/>
            <a:ext cx="2573655" cy="39062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238125" y="971550"/>
            <a:ext cx="89058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Objective: </a:t>
            </a:r>
            <a:r>
              <a:rPr lang="en-US"/>
              <a:t>Determine Absolute Light Output from Perovskite under Gamma Irradiation</a:t>
            </a:r>
          </a:p>
        </p:txBody>
      </p:sp>
      <p:sp>
        <p:nvSpPr>
          <p:cNvPr id="42" name="Can 41"/>
          <p:cNvSpPr/>
          <p:nvPr/>
        </p:nvSpPr>
        <p:spPr>
          <a:xfrm>
            <a:off x="5050013" y="3437472"/>
            <a:ext cx="1047750" cy="2688824"/>
          </a:xfrm>
          <a:prstGeom prst="can">
            <a:avLst/>
          </a:prstGeom>
          <a:solidFill>
            <a:schemeClr val="tx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PMT</a:t>
            </a:r>
          </a:p>
          <a:p>
            <a:pPr algn="ctr"/>
            <a:endParaRPr lang="en-US"/>
          </a:p>
        </p:txBody>
      </p:sp>
      <p:sp>
        <p:nvSpPr>
          <p:cNvPr id="43" name="Cube 42"/>
          <p:cNvSpPr/>
          <p:nvPr/>
        </p:nvSpPr>
        <p:spPr>
          <a:xfrm>
            <a:off x="5454824" y="3356509"/>
            <a:ext cx="238125" cy="171045"/>
          </a:xfrm>
          <a:prstGeom prst="cube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rallelogram 43"/>
          <p:cNvSpPr/>
          <p:nvPr/>
        </p:nvSpPr>
        <p:spPr>
          <a:xfrm rot="9338260">
            <a:off x="4999533" y="3268269"/>
            <a:ext cx="710534" cy="130028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rallelogram 44"/>
          <p:cNvSpPr/>
          <p:nvPr/>
        </p:nvSpPr>
        <p:spPr>
          <a:xfrm rot="12738784">
            <a:off x="5461924" y="3307237"/>
            <a:ext cx="710178" cy="13019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an 45"/>
          <p:cNvSpPr/>
          <p:nvPr/>
        </p:nvSpPr>
        <p:spPr>
          <a:xfrm>
            <a:off x="5004348" y="2790173"/>
            <a:ext cx="1147560" cy="1142579"/>
          </a:xfrm>
          <a:prstGeom prst="can">
            <a:avLst/>
          </a:prstGeom>
          <a:noFill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3470823" y="3073852"/>
            <a:ext cx="153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Perovskite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9579" y="1771769"/>
            <a:ext cx="216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Aluminum Foil Cap</a:t>
            </a:r>
          </a:p>
        </p:txBody>
      </p:sp>
      <p:sp>
        <p:nvSpPr>
          <p:cNvPr id="49" name="Down Arrow 48"/>
          <p:cNvSpPr/>
          <p:nvPr/>
        </p:nvSpPr>
        <p:spPr>
          <a:xfrm rot="19172816">
            <a:off x="5032686" y="2444207"/>
            <a:ext cx="144937" cy="849569"/>
          </a:xfrm>
          <a:prstGeom prst="down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/>
          <p:cNvSpPr/>
          <p:nvPr/>
        </p:nvSpPr>
        <p:spPr>
          <a:xfrm>
            <a:off x="4458935" y="3403566"/>
            <a:ext cx="995889" cy="127292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/>
          <p:cNvSpPr/>
          <p:nvPr/>
        </p:nvSpPr>
        <p:spPr>
          <a:xfrm>
            <a:off x="5743738" y="2085504"/>
            <a:ext cx="208569" cy="627709"/>
          </a:xfrm>
          <a:prstGeom prst="downArrow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470823" y="2189409"/>
            <a:ext cx="136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Teflon Tape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13" t="27128" r="15555" b="27293"/>
          <a:stretch/>
        </p:blipFill>
        <p:spPr bwMode="auto">
          <a:xfrm>
            <a:off x="376565" y="3617158"/>
            <a:ext cx="4082370" cy="2793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314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06628" y="4434840"/>
            <a:ext cx="8172000" cy="219456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-228600" algn="l" defTabSz="457200" rtl="0" eaLnBrk="1" latinLnBrk="0" hangingPunct="1"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0" algn="l" defTabSz="457200" rtl="0" eaLnBrk="1" latinLnBrk="0" hangingPunct="1">
              <a:spcBef>
                <a:spcPts val="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/>
              <a:t>Determine radioluminescence (RL) spectrum (x-ray or gamma excited)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Calculate integral quantum efficiency based on RL and wavelength-dependent quantum efficiency of the photo-sensor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Determine channel # and gain for single photoelectron (SPE) peak of the PMT, using high gain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Determine channel # and gain for the full energy peak of the scintillator.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Calculate number of scintillation photoelectrons based on 3 &amp; 4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Calculate number of scintillation photons using the integral QE.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35" y="2021634"/>
            <a:ext cx="5756910" cy="227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98107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/>
              <a:t>Procedure:</a:t>
            </a:r>
          </a:p>
        </p:txBody>
      </p:sp>
    </p:spTree>
    <p:extLst>
      <p:ext uri="{BB962C8B-B14F-4D97-AF65-F5344CB8AC3E}">
        <p14:creationId xmlns:p14="http://schemas.microsoft.com/office/powerpoint/2010/main" val="46960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 5"/>
          <p:cNvSpPr/>
          <p:nvPr/>
        </p:nvSpPr>
        <p:spPr>
          <a:xfrm>
            <a:off x="895350" y="1528524"/>
            <a:ext cx="857249" cy="2524124"/>
          </a:xfrm>
          <a:prstGeom prst="can">
            <a:avLst/>
          </a:prstGeom>
          <a:solidFill>
            <a:schemeClr val="tx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PMT</a:t>
            </a:r>
          </a:p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95600" y="2257425"/>
            <a:ext cx="1257300" cy="229076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19424" y="3057525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Amplifier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57750" y="2257425"/>
            <a:ext cx="1257300" cy="229076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919662" y="3150155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ADC</a:t>
            </a:r>
          </a:p>
        </p:txBody>
      </p:sp>
      <p:sp>
        <p:nvSpPr>
          <p:cNvPr id="10" name="Frame 9"/>
          <p:cNvSpPr/>
          <p:nvPr/>
        </p:nvSpPr>
        <p:spPr>
          <a:xfrm>
            <a:off x="6810375" y="2328862"/>
            <a:ext cx="1771650" cy="1457325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Parallelogram 10"/>
          <p:cNvSpPr/>
          <p:nvPr/>
        </p:nvSpPr>
        <p:spPr>
          <a:xfrm>
            <a:off x="6677025" y="3786187"/>
            <a:ext cx="1905000" cy="557213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067550" y="2752725"/>
            <a:ext cx="122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CPU</a:t>
            </a:r>
          </a:p>
        </p:txBody>
      </p:sp>
      <p:cxnSp>
        <p:nvCxnSpPr>
          <p:cNvPr id="14" name="Straight Connector 13"/>
          <p:cNvCxnSpPr>
            <a:stCxn id="3" idx="3"/>
            <a:endCxn id="8" idx="1"/>
          </p:cNvCxnSpPr>
          <p:nvPr/>
        </p:nvCxnSpPr>
        <p:spPr>
          <a:xfrm>
            <a:off x="4152900" y="3402806"/>
            <a:ext cx="7048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115050" y="3150155"/>
            <a:ext cx="7048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323974" y="4045504"/>
            <a:ext cx="157162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52899" y="5276850"/>
            <a:ext cx="1781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Gain </a:t>
            </a:r>
          </a:p>
          <a:p>
            <a:r>
              <a:rPr lang="en-US"/>
              <a:t>Time Constant</a:t>
            </a:r>
          </a:p>
          <a:p>
            <a:r>
              <a:rPr lang="en-US"/>
              <a:t>Pole Zero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312" y="4507945"/>
            <a:ext cx="1362075" cy="74033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20" idx="0"/>
          </p:cNvCxnSpPr>
          <p:nvPr/>
        </p:nvCxnSpPr>
        <p:spPr>
          <a:xfrm flipV="1">
            <a:off x="895350" y="4045504"/>
            <a:ext cx="209550" cy="4624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400050" y="4045504"/>
            <a:ext cx="600075" cy="462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1443" y="4554944"/>
            <a:ext cx="1547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15V Power Supply</a:t>
            </a:r>
          </a:p>
        </p:txBody>
      </p:sp>
    </p:spTree>
    <p:extLst>
      <p:ext uri="{BB962C8B-B14F-4D97-AF65-F5344CB8AC3E}">
        <p14:creationId xmlns:p14="http://schemas.microsoft.com/office/powerpoint/2010/main" val="367215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59" t="36828" r="23124" b="10986"/>
          <a:stretch/>
        </p:blipFill>
        <p:spPr bwMode="auto">
          <a:xfrm>
            <a:off x="4989195" y="1332547"/>
            <a:ext cx="3504242" cy="49920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Can 7"/>
          <p:cNvSpPr/>
          <p:nvPr/>
        </p:nvSpPr>
        <p:spPr>
          <a:xfrm>
            <a:off x="1504950" y="2714624"/>
            <a:ext cx="1047750" cy="3743325"/>
          </a:xfrm>
          <a:prstGeom prst="can">
            <a:avLst/>
          </a:prstGeom>
          <a:solidFill>
            <a:schemeClr val="tx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PMT</a:t>
            </a:r>
          </a:p>
          <a:p>
            <a:pPr algn="ctr"/>
            <a:endParaRPr lang="en-US"/>
          </a:p>
        </p:txBody>
      </p:sp>
      <p:sp>
        <p:nvSpPr>
          <p:cNvPr id="9" name="Cube 8"/>
          <p:cNvSpPr/>
          <p:nvPr/>
        </p:nvSpPr>
        <p:spPr>
          <a:xfrm>
            <a:off x="1909761" y="2633662"/>
            <a:ext cx="238125" cy="238125"/>
          </a:xfrm>
          <a:prstGeom prst="cube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/>
          <p:cNvSpPr/>
          <p:nvPr/>
        </p:nvSpPr>
        <p:spPr>
          <a:xfrm rot="9338260">
            <a:off x="1464987" y="2543151"/>
            <a:ext cx="710534" cy="181022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/>
          <p:cNvSpPr/>
          <p:nvPr/>
        </p:nvSpPr>
        <p:spPr>
          <a:xfrm rot="12738784">
            <a:off x="1903215" y="2580437"/>
            <a:ext cx="710178" cy="181247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n 12"/>
          <p:cNvSpPr/>
          <p:nvPr/>
        </p:nvSpPr>
        <p:spPr>
          <a:xfrm>
            <a:off x="1459285" y="2067326"/>
            <a:ext cx="1147560" cy="1590675"/>
          </a:xfrm>
          <a:prstGeom prst="can">
            <a:avLst/>
          </a:prstGeom>
          <a:noFill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057526" y="2652712"/>
            <a:ext cx="153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Perovskite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7260" y="1009381"/>
            <a:ext cx="1581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Aluminum Foil 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275" y="1815985"/>
            <a:ext cx="202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Teflon Tape</a:t>
            </a:r>
          </a:p>
        </p:txBody>
      </p:sp>
      <p:sp>
        <p:nvSpPr>
          <p:cNvPr id="18" name="Down Arrow 17"/>
          <p:cNvSpPr/>
          <p:nvPr/>
        </p:nvSpPr>
        <p:spPr>
          <a:xfrm rot="3498616">
            <a:off x="2560539" y="1947519"/>
            <a:ext cx="177714" cy="849569"/>
          </a:xfrm>
          <a:prstGeom prst="down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10800000">
            <a:off x="2137836" y="2719385"/>
            <a:ext cx="995889" cy="177213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1820254" y="1571625"/>
            <a:ext cx="212811" cy="473361"/>
          </a:xfrm>
          <a:prstGeom prst="downArrow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3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207" y="938332"/>
            <a:ext cx="8149352" cy="307777"/>
          </a:xfrm>
        </p:spPr>
        <p:txBody>
          <a:bodyPr>
            <a:noAutofit/>
          </a:bodyPr>
          <a:lstStyle/>
          <a:p>
            <a:pPr algn="l"/>
            <a:r>
              <a:rPr lang="en-US" sz="2400" b="1" dirty="0"/>
              <a:t>Steps for absolute light yield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860" y="4177665"/>
            <a:ext cx="8172000" cy="254737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0" dirty="0"/>
              <a:t>Determine radioluminescence (RL) spectrum (x-ray or gamma excited)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Calculate integral quantum efficiency based on RL and wavelength-dependent quantum efficiency of the photo-sensor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Determine channel # and gain for single photoelectron (SPE) peak of the PMT, using high gain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Determine channel # and gain for the full energy peak of the scintillator.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Calculate number of scintillation photoelectrons based on 3 &amp; 4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Calculate number of scintillation photons using the integral QE.</a:t>
            </a:r>
          </a:p>
          <a:p>
            <a:pPr marL="342900" indent="-342900">
              <a:buFont typeface="+mj-lt"/>
              <a:buAutoNum type="arabicPeriod"/>
            </a:pPr>
            <a:endParaRPr lang="en-US" b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485" y="1392555"/>
            <a:ext cx="67627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76775" y="276225"/>
            <a:ext cx="410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accent4">
                    <a:lumMod val="20000"/>
                    <a:lumOff val="80000"/>
                  </a:schemeClr>
                </a:solidFill>
              </a:rPr>
              <a:t>Slide Courtesy of Dr. Kan Yang</a:t>
            </a:r>
          </a:p>
        </p:txBody>
      </p:sp>
    </p:spTree>
    <p:extLst>
      <p:ext uri="{BB962C8B-B14F-4D97-AF65-F5344CB8AC3E}">
        <p14:creationId xmlns:p14="http://schemas.microsoft.com/office/powerpoint/2010/main" val="96906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4679" y="1845106"/>
                <a:ext cx="8172000" cy="4493219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0" dirty="0"/>
                  <a:t>Use the method in slide #1 to determine the </a:t>
                </a:r>
                <a:r>
                  <a:rPr lang="en-US" b="0" dirty="0" err="1"/>
                  <a:t>AbsLY</a:t>
                </a:r>
                <a:r>
                  <a:rPr lang="en-US" b="0" dirty="0"/>
                  <a:t> of a reference crystal (e.g. BGO) using a high QE PMT: </a:t>
                </a:r>
                <a:r>
                  <a:rPr lang="en-US" dirty="0" err="1"/>
                  <a:t>absLY</a:t>
                </a:r>
                <a:r>
                  <a:rPr lang="en-US" dirty="0"/>
                  <a:t>(ref.)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0" dirty="0"/>
                  <a:t>Determine the photo-peak channel # of the reference crystal in the red-sensitive PMT: </a:t>
                </a:r>
                <a:r>
                  <a:rPr lang="en-US" dirty="0" err="1"/>
                  <a:t>ch</a:t>
                </a:r>
                <a:r>
                  <a:rPr lang="en-US" dirty="0"/>
                  <a:t>(ref.)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0" dirty="0"/>
                  <a:t>Determine the photo-peak channel # of the sample crystal in a second PMT: </a:t>
                </a:r>
                <a:r>
                  <a:rPr lang="en-US" dirty="0" err="1"/>
                  <a:t>ch</a:t>
                </a:r>
                <a:r>
                  <a:rPr lang="en-US" dirty="0"/>
                  <a:t>(sample)</a:t>
                </a:r>
              </a:p>
              <a:p>
                <a:pPr lvl="1"/>
                <a:r>
                  <a:rPr lang="en-US" b="0" dirty="0"/>
                  <a:t>This assumes both crystals use the sample gain. Otherwise, use gain 	corrected channel numbers.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0" dirty="0"/>
                  <a:t>Determine the integral QE of the ref. crystal coupled with the red-sensitive PMT: </a:t>
                </a:r>
                <a:r>
                  <a:rPr lang="en-US" dirty="0" err="1"/>
                  <a:t>intQE</a:t>
                </a:r>
                <a:r>
                  <a:rPr lang="en-US" dirty="0"/>
                  <a:t>(ref.,</a:t>
                </a:r>
                <a:r>
                  <a:rPr lang="en-US" dirty="0" err="1"/>
                  <a:t>r-p</a:t>
                </a:r>
                <a:r>
                  <a:rPr lang="en-US" dirty="0"/>
                  <a:t>mt)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0" dirty="0"/>
                  <a:t>Determine the integral QE of the sample crystal coupled with the red-sensitive PMT: </a:t>
                </a:r>
                <a:r>
                  <a:rPr lang="en-US" dirty="0" err="1"/>
                  <a:t>intQE</a:t>
                </a:r>
                <a:r>
                  <a:rPr lang="en-US" dirty="0"/>
                  <a:t>(</a:t>
                </a:r>
                <a:r>
                  <a:rPr lang="en-US" dirty="0" err="1"/>
                  <a:t>sample,r-pmt</a:t>
                </a:r>
                <a:r>
                  <a:rPr lang="en-US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0" dirty="0"/>
                  <a:t>Then the absolute light yield of the sample crystal is: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𝑎𝑏𝑠𝐿𝑌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𝑠𝑎𝑚𝑝𝑙𝑒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𝑎𝑏𝑠𝐿𝑌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𝑟𝑒𝑓</m:t>
                        </m:r>
                        <m:r>
                          <a:rPr lang="en-US" b="0" i="1" smtClean="0">
                            <a:latin typeface="Cambria Math"/>
                          </a:rPr>
                          <m:t>.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𝑐h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𝑠𝑎𝑚𝑝𝑙𝑒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𝑐h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𝑟𝑒𝑓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.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𝑖𝑛𝑡𝑄𝐸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𝑟𝑒𝑓</m:t>
                        </m:r>
                        <m:r>
                          <a:rPr lang="en-US" b="0" i="1" smtClean="0">
                            <a:latin typeface="Cambria Math"/>
                          </a:rPr>
                          <m:t>.)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𝑖𝑛𝑡𝑄𝐸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𝑠𝑎𝑚𝑝𝑙𝑒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b="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679" y="1845106"/>
                <a:ext cx="8172000" cy="4493219"/>
              </a:xfrm>
              <a:blipFill rotWithShape="1">
                <a:blip r:embed="rId3"/>
                <a:stretch>
                  <a:fillRect l="-522" t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9332" y="1190625"/>
            <a:ext cx="8773218" cy="307777"/>
          </a:xfrm>
        </p:spPr>
        <p:txBody>
          <a:bodyPr>
            <a:noAutofit/>
          </a:bodyPr>
          <a:lstStyle/>
          <a:p>
            <a:pPr algn="l"/>
            <a:r>
              <a:rPr lang="en-US" sz="2400" b="1" dirty="0"/>
              <a:t>If the red-sensitive PMT cannot resolve the SPE peak…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6775" y="276225"/>
            <a:ext cx="410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accent4">
                    <a:lumMod val="20000"/>
                    <a:lumOff val="80000"/>
                  </a:schemeClr>
                </a:solidFill>
              </a:rPr>
              <a:t>Slide Courtesy of Dr. Kan Yang</a:t>
            </a:r>
          </a:p>
        </p:txBody>
      </p:sp>
    </p:spTree>
    <p:extLst>
      <p:ext uri="{BB962C8B-B14F-4D97-AF65-F5344CB8AC3E}">
        <p14:creationId xmlns:p14="http://schemas.microsoft.com/office/powerpoint/2010/main" val="2209238287"/>
      </p:ext>
    </p:extLst>
  </p:cSld>
  <p:clrMapOvr>
    <a:masterClrMapping/>
  </p:clrMapOvr>
</p:sld>
</file>

<file path=ppt/theme/theme1.xml><?xml version="1.0" encoding="utf-8"?>
<a:theme xmlns:a="http://schemas.openxmlformats.org/drawingml/2006/main" name="2_Title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2405</TotalTime>
  <Words>405</Words>
  <Application>Microsoft Office PowerPoint</Application>
  <PresentationFormat>On-screen Show (4:3)</PresentationFormat>
  <Paragraphs>49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Wingdings</vt:lpstr>
      <vt:lpstr>2_Title Slide</vt:lpstr>
      <vt:lpstr>Content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for absolute light yield measurement</vt:lpstr>
      <vt:lpstr>If the red-sensitive PMT cannot resolve the SPE peak…</vt:lpstr>
    </vt:vector>
  </TitlesOfParts>
  <Company>OSU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Jacquie Aberegg</dc:creator>
  <cp:lastModifiedBy>Sherif, Ayub M.</cp:lastModifiedBy>
  <cp:revision>52</cp:revision>
  <cp:lastPrinted>2013-08-13T14:25:08Z</cp:lastPrinted>
  <dcterms:created xsi:type="dcterms:W3CDTF">2013-05-24T18:55:25Z</dcterms:created>
  <dcterms:modified xsi:type="dcterms:W3CDTF">2022-04-03T12:58:28Z</dcterms:modified>
</cp:coreProperties>
</file>