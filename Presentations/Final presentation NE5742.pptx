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9" d="100"/>
          <a:sy n="149" d="100"/>
        </p:scale>
        <p:origin x="212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cdeb0b180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cdeb0b180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cdeb0b180a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cdeb0b180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deb0b180a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deb0b180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d2c054dd8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d2c054dd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d2c054dd89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d2c054dd8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d2c9d1a6f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d2c9d1a6f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deb0b180a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deb0b180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cdeb0b180a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cdeb0b180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cdeb0b180a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cdeb0b180a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a:t>
            </a:r>
            <a:endParaRPr/>
          </a:p>
          <a:p>
            <a:pPr marL="0" lvl="0" indent="0" algn="l" rtl="0">
              <a:spcBef>
                <a:spcPts val="1200"/>
              </a:spcBef>
              <a:spcAft>
                <a:spcPts val="0"/>
              </a:spcAft>
              <a:buClr>
                <a:schemeClr val="dk1"/>
              </a:buClr>
              <a:buSzPts val="1100"/>
              <a:buFont typeface="Arial"/>
              <a:buNone/>
            </a:pPr>
            <a:r>
              <a:rPr lang="en"/>
              <a:t>The Geant4 simulation consisted of learning basic detector construction, particle selection from pre-compiled or imported physics lists, and running simple low-energy gamma ray events (X-rays) with basics detector geometries and material geometries. Because of the steep learning curve associated with Geant4, two pre-existing applications were used; TestEm4, a built-in example, and GEARS, a compact, fully-features Geant4 application developed by Dr. Jing Liu of the University of South Dakota.</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r>
              <a:rPr lang="en"/>
              <a:t>Simulations run in TestEm4 required the detector to be constructed as a C++ object. One geometry used consisted of a block of silicon with dimensions 4in x 4in x 0.1in in an 8,000 cubic meter cube containing air. A point source emitting 100keV gammas was plated 25 cm from one face of the detector plate, and up to 100 events were run to observe particle tracks.</a:t>
            </a:r>
            <a:endParaRPr/>
          </a:p>
          <a:p>
            <a:pPr marL="0" lvl="0" indent="0" algn="l" rtl="0">
              <a:spcBef>
                <a:spcPts val="1200"/>
              </a:spcBef>
              <a:spcAft>
                <a:spcPts val="0"/>
              </a:spcAft>
              <a:buClr>
                <a:schemeClr val="dk1"/>
              </a:buClr>
              <a:buSzPts val="1100"/>
              <a:buFont typeface="Arial"/>
              <a:buNone/>
            </a:pPr>
            <a:r>
              <a:rPr lang="en"/>
              <a:t>This method of modifying TestEm4 has some severe limitations. The detector geometry is defined in C++, which is difficult to use and requires full recompilation if a change to the geometry needs to be made.</a:t>
            </a:r>
            <a:endParaRPr/>
          </a:p>
          <a:p>
            <a:pPr marL="0" lvl="0" indent="0" algn="l" rtl="0">
              <a:spcBef>
                <a:spcPts val="1200"/>
              </a:spcBef>
              <a:spcAft>
                <a:spcPts val="0"/>
              </a:spcAft>
              <a:buClr>
                <a:schemeClr val="dk1"/>
              </a:buClr>
              <a:buSzPts val="1100"/>
              <a:buFont typeface="Arial"/>
              <a:buNone/>
            </a:pPr>
            <a:r>
              <a:rPr lang="en"/>
              <a:t>This example did, however, provide a simple application to help us understand particle track visualization with simple geometries, and definitions of materials using known elements.</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r>
              <a:rPr lang="en"/>
              <a:t>GEARS is a very compact and fully-featured Geant4 application available under the MIT license. The same geometry detector was made using an ASCII markup style that allows for simple geometries to be loaded into GEARS while the program is running. This doesn’t require recompilation. A point source emitting 100keV gammas was placed 1 meter from the face of the detector plate, and 100 events were run for visualization purposes. The visualizer can also be turned off to run many thousands of events; one simulation saw 50,000 events run. The results from this simulation were then analyzed in ROOT, allowing for analysis of energy deposition in the detector plate.</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d2c5d5c9e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d2c5d5c9e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cdeb0b180a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cdeb0b180a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d2d31f4b7b_2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d2d31f4b7b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d2d31f4b7b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d2d31f4b7b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d2d31f4b7b_2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d2d31f4b7b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cdeb0b180a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cdeb0b180a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d2cacdc05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d2cacdc05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xt Slide">
  <p:cSld name="Text Slide">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746930" y="1372791"/>
            <a:ext cx="8229600" cy="3394500"/>
          </a:xfrm>
          <a:prstGeom prst="rect">
            <a:avLst/>
          </a:prstGeom>
          <a:noFill/>
          <a:ln w="9525" cap="flat" cmpd="sng">
            <a:solidFill>
              <a:srgbClr val="FFFFFF"/>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l" rtl="0">
              <a:lnSpc>
                <a:spcPct val="100000"/>
              </a:lnSpc>
              <a:spcBef>
                <a:spcPts val="600"/>
              </a:spcBef>
              <a:spcAft>
                <a:spcPts val="0"/>
              </a:spcAft>
              <a:buClr>
                <a:srgbClr val="BB0000"/>
              </a:buClr>
              <a:buSzPts val="3200"/>
              <a:buFont typeface="Arial"/>
              <a:buNone/>
              <a:defRPr sz="3200" b="0" i="0" u="none" strike="noStrike" cap="none">
                <a:solidFill>
                  <a:srgbClr val="BB0000"/>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body" idx="2"/>
          </p:nvPr>
        </p:nvSpPr>
        <p:spPr>
          <a:xfrm>
            <a:off x="5573888" y="172358"/>
            <a:ext cx="3392100" cy="5016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body" idx="3"/>
          </p:nvPr>
        </p:nvSpPr>
        <p:spPr>
          <a:xfrm>
            <a:off x="4315390" y="789715"/>
            <a:ext cx="4642800" cy="477000"/>
          </a:xfrm>
          <a:prstGeom prst="rect">
            <a:avLst/>
          </a:prstGeom>
          <a:noFill/>
          <a:ln w="952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02531"/>
              </a:lnSpc>
              <a:spcBef>
                <a:spcPts val="0"/>
              </a:spcBef>
              <a:spcAft>
                <a:spcPts val="0"/>
              </a:spcAft>
              <a:buClr>
                <a:srgbClr val="595959"/>
              </a:buClr>
              <a:buSzPts val="1600"/>
              <a:buFont typeface="Arial"/>
              <a:buNone/>
              <a:defRPr sz="1600" b="1" i="0" u="none" strike="noStrike" cap="none">
                <a:solidFill>
                  <a:srgbClr val="595959"/>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Phrase-Word Slide RED">
  <p:cSld name="Big Phrase-Word Slide RED">
    <p:spTree>
      <p:nvGrpSpPr>
        <p:cNvPr id="1" name="Shape 13"/>
        <p:cNvGrpSpPr/>
        <p:nvPr/>
      </p:nvGrpSpPr>
      <p:grpSpPr>
        <a:xfrm>
          <a:off x="0" y="0"/>
          <a:ext cx="0" cy="0"/>
          <a:chOff x="0" y="0"/>
          <a:chExt cx="0" cy="0"/>
        </a:xfrm>
      </p:grpSpPr>
      <p:sp>
        <p:nvSpPr>
          <p:cNvPr id="14" name="Google Shape;14;p3"/>
          <p:cNvSpPr/>
          <p:nvPr/>
        </p:nvSpPr>
        <p:spPr>
          <a:xfrm>
            <a:off x="0" y="682627"/>
            <a:ext cx="9144000" cy="4461000"/>
          </a:xfrm>
          <a:prstGeom prst="rect">
            <a:avLst/>
          </a:prstGeom>
          <a:solidFill>
            <a:srgbClr val="636D6E"/>
          </a:solidFill>
          <a:ln w="9525" cap="flat" cmpd="sng">
            <a:solidFill>
              <a:srgbClr val="636D6E"/>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 name="Google Shape;15;p3"/>
          <p:cNvSpPr txBox="1">
            <a:spLocks noGrp="1"/>
          </p:cNvSpPr>
          <p:nvPr>
            <p:ph type="body" idx="1"/>
          </p:nvPr>
        </p:nvSpPr>
        <p:spPr>
          <a:xfrm>
            <a:off x="5573888" y="181604"/>
            <a:ext cx="3392100" cy="501600"/>
          </a:xfrm>
          <a:prstGeom prst="rect">
            <a:avLst/>
          </a:prstGeom>
          <a:solidFill>
            <a:srgbClr val="636D6E"/>
          </a:solid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 name="Google Shape;16;p3"/>
          <p:cNvSpPr txBox="1">
            <a:spLocks noGrp="1"/>
          </p:cNvSpPr>
          <p:nvPr>
            <p:ph type="body" idx="2"/>
          </p:nvPr>
        </p:nvSpPr>
        <p:spPr>
          <a:xfrm>
            <a:off x="651757" y="1300892"/>
            <a:ext cx="7194000" cy="33129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l" rtl="0">
              <a:lnSpc>
                <a:spcPct val="105006"/>
              </a:lnSpc>
              <a:spcBef>
                <a:spcPts val="0"/>
              </a:spcBef>
              <a:spcAft>
                <a:spcPts val="0"/>
              </a:spcAft>
              <a:buClr>
                <a:schemeClr val="lt1"/>
              </a:buClr>
              <a:buSzPts val="8000"/>
              <a:buFont typeface="Arial"/>
              <a:buNone/>
              <a:defRPr sz="8000" b="1"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Phrase-Word Slide WHITE1">
  <p:cSld name="Big Phrase-Word Slide WHITE1">
    <p:spTree>
      <p:nvGrpSpPr>
        <p:cNvPr id="1" name="Shape 17"/>
        <p:cNvGrpSpPr/>
        <p:nvPr/>
      </p:nvGrpSpPr>
      <p:grpSpPr>
        <a:xfrm>
          <a:off x="0" y="0"/>
          <a:ext cx="0" cy="0"/>
          <a:chOff x="0" y="0"/>
          <a:chExt cx="0" cy="0"/>
        </a:xfrm>
      </p:grpSpPr>
      <p:sp>
        <p:nvSpPr>
          <p:cNvPr id="18" name="Google Shape;18;p4"/>
          <p:cNvSpPr txBox="1">
            <a:spLocks noGrp="1"/>
          </p:cNvSpPr>
          <p:nvPr>
            <p:ph type="body" idx="1"/>
          </p:nvPr>
        </p:nvSpPr>
        <p:spPr>
          <a:xfrm>
            <a:off x="651757" y="1300892"/>
            <a:ext cx="7194000" cy="3312900"/>
          </a:xfrm>
          <a:prstGeom prst="rect">
            <a:avLst/>
          </a:prstGeom>
          <a:noFill/>
          <a:ln w="9525" cap="flat" cmpd="sng">
            <a:solidFill>
              <a:srgbClr val="FFFFFF"/>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l" rtl="0">
              <a:lnSpc>
                <a:spcPct val="105006"/>
              </a:lnSpc>
              <a:spcBef>
                <a:spcPts val="0"/>
              </a:spcBef>
              <a:spcAft>
                <a:spcPts val="0"/>
              </a:spcAft>
              <a:buClr>
                <a:srgbClr val="BB0000"/>
              </a:buClr>
              <a:buSzPts val="8000"/>
              <a:buFont typeface="Arial"/>
              <a:buNone/>
              <a:defRPr sz="8000" b="1" i="0" u="none" strike="noStrike" cap="none">
                <a:solidFill>
                  <a:srgbClr val="BB0000"/>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9" name="Google Shape;19;p4"/>
          <p:cNvSpPr txBox="1">
            <a:spLocks noGrp="1"/>
          </p:cNvSpPr>
          <p:nvPr>
            <p:ph type="body" idx="2"/>
          </p:nvPr>
        </p:nvSpPr>
        <p:spPr>
          <a:xfrm>
            <a:off x="5573888" y="172358"/>
            <a:ext cx="3392100" cy="5016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Slide">
  <p:cSld name="Quote Slide">
    <p:spTree>
      <p:nvGrpSpPr>
        <p:cNvPr id="1" name="Shape 20"/>
        <p:cNvGrpSpPr/>
        <p:nvPr/>
      </p:nvGrpSpPr>
      <p:grpSpPr>
        <a:xfrm>
          <a:off x="0" y="0"/>
          <a:ext cx="0" cy="0"/>
          <a:chOff x="0" y="0"/>
          <a:chExt cx="0" cy="0"/>
        </a:xfrm>
      </p:grpSpPr>
      <p:sp>
        <p:nvSpPr>
          <p:cNvPr id="21" name="Google Shape;21;p5"/>
          <p:cNvSpPr txBox="1">
            <a:spLocks noGrp="1"/>
          </p:cNvSpPr>
          <p:nvPr>
            <p:ph type="body" idx="1"/>
          </p:nvPr>
        </p:nvSpPr>
        <p:spPr>
          <a:xfrm>
            <a:off x="5573888" y="172358"/>
            <a:ext cx="3392100" cy="5016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2" name="Google Shape;22;p5"/>
          <p:cNvSpPr txBox="1">
            <a:spLocks noGrp="1"/>
          </p:cNvSpPr>
          <p:nvPr>
            <p:ph type="body" idx="2"/>
          </p:nvPr>
        </p:nvSpPr>
        <p:spPr>
          <a:xfrm>
            <a:off x="4881011" y="4110248"/>
            <a:ext cx="3392100" cy="820500"/>
          </a:xfrm>
          <a:prstGeom prst="rect">
            <a:avLst/>
          </a:prstGeom>
          <a:noFill/>
          <a:ln w="952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10000"/>
              </a:lnSpc>
              <a:spcBef>
                <a:spcPts val="0"/>
              </a:spcBef>
              <a:spcAft>
                <a:spcPts val="0"/>
              </a:spcAft>
              <a:buClr>
                <a:srgbClr val="BB0000"/>
              </a:buClr>
              <a:buSzPts val="2400"/>
              <a:buFont typeface="Arial"/>
              <a:buNone/>
              <a:defRPr sz="2400" b="0" i="0" u="none" strike="noStrike" cap="none" baseline="-25000">
                <a:solidFill>
                  <a:srgbClr val="BB0000"/>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3" name="Google Shape;23;p5"/>
          <p:cNvSpPr txBox="1">
            <a:spLocks noGrp="1"/>
          </p:cNvSpPr>
          <p:nvPr>
            <p:ph type="body" idx="3"/>
          </p:nvPr>
        </p:nvSpPr>
        <p:spPr>
          <a:xfrm>
            <a:off x="944698" y="1157326"/>
            <a:ext cx="7200300" cy="2842500"/>
          </a:xfrm>
          <a:prstGeom prst="rect">
            <a:avLst/>
          </a:prstGeom>
          <a:noFill/>
          <a:ln w="9525" cap="flat" cmpd="sng">
            <a:solidFill>
              <a:srgbClr val="FFFFFF"/>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ctr" rtl="0">
              <a:lnSpc>
                <a:spcPct val="100000"/>
              </a:lnSpc>
              <a:spcBef>
                <a:spcPts val="600"/>
              </a:spcBef>
              <a:spcAft>
                <a:spcPts val="0"/>
              </a:spcAft>
              <a:buClr>
                <a:srgbClr val="BB0032"/>
              </a:buClr>
              <a:buSzPts val="3200"/>
              <a:buFont typeface="Arial"/>
              <a:buNone/>
              <a:defRPr sz="3200" b="0" i="0" u="none" strike="noStrike" cap="none">
                <a:solidFill>
                  <a:srgbClr val="BB0032"/>
                </a:solidFill>
                <a:latin typeface="Arial"/>
                <a:ea typeface="Arial"/>
                <a:cs typeface="Arial"/>
                <a:sym typeface="Arial"/>
              </a:defRPr>
            </a:lvl1pPr>
            <a:lvl2pPr marL="914400" marR="0" lvl="1" indent="-228600" algn="l" rtl="0">
              <a:lnSpc>
                <a:spcPct val="100000"/>
              </a:lnSpc>
              <a:spcBef>
                <a:spcPts val="6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ull Photo Slide">
  <p:cSld name="Full Photo Slide">
    <p:spTree>
      <p:nvGrpSpPr>
        <p:cNvPr id="1" name="Shape 24"/>
        <p:cNvGrpSpPr/>
        <p:nvPr/>
      </p:nvGrpSpPr>
      <p:grpSpPr>
        <a:xfrm>
          <a:off x="0" y="0"/>
          <a:ext cx="0" cy="0"/>
          <a:chOff x="0" y="0"/>
          <a:chExt cx="0" cy="0"/>
        </a:xfrm>
      </p:grpSpPr>
      <p:sp>
        <p:nvSpPr>
          <p:cNvPr id="25" name="Google Shape;25;p6"/>
          <p:cNvSpPr>
            <a:spLocks noGrp="1"/>
          </p:cNvSpPr>
          <p:nvPr>
            <p:ph type="pic" idx="2"/>
          </p:nvPr>
        </p:nvSpPr>
        <p:spPr>
          <a:xfrm>
            <a:off x="0" y="692952"/>
            <a:ext cx="9144000" cy="44505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600"/>
              </a:spcBef>
              <a:spcAft>
                <a:spcPts val="0"/>
              </a:spcAft>
              <a:buClr>
                <a:srgbClr val="BFBFBF"/>
              </a:buClr>
              <a:buSzPts val="3200"/>
              <a:buFont typeface="Arial"/>
              <a:buNone/>
              <a:defRPr sz="3200" b="0" i="0" u="none" strike="noStrike" cap="none">
                <a:solidFill>
                  <a:srgbClr val="BFBFBF"/>
                </a:solidFill>
                <a:latin typeface="Arial"/>
                <a:ea typeface="Arial"/>
                <a:cs typeface="Arial"/>
                <a:sym typeface="Arial"/>
              </a:defRPr>
            </a:lvl1pPr>
            <a:lvl2pPr marR="0" lvl="1" algn="l" rtl="0">
              <a:lnSpc>
                <a:spcPct val="100000"/>
              </a:lnSpc>
              <a:spcBef>
                <a:spcPts val="6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6" name="Google Shape;26;p6"/>
          <p:cNvSpPr txBox="1">
            <a:spLocks noGrp="1"/>
          </p:cNvSpPr>
          <p:nvPr>
            <p:ph type="body" idx="1"/>
          </p:nvPr>
        </p:nvSpPr>
        <p:spPr>
          <a:xfrm>
            <a:off x="5573888" y="172358"/>
            <a:ext cx="3392100" cy="5016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7" name="Google Shape;27;p6"/>
          <p:cNvSpPr txBox="1">
            <a:spLocks noGrp="1"/>
          </p:cNvSpPr>
          <p:nvPr>
            <p:ph type="body" idx="3"/>
          </p:nvPr>
        </p:nvSpPr>
        <p:spPr>
          <a:xfrm>
            <a:off x="4868542" y="1064378"/>
            <a:ext cx="3999000" cy="1374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71991"/>
              </a:lnSpc>
              <a:spcBef>
                <a:spcPts val="0"/>
              </a:spcBef>
              <a:spcAft>
                <a:spcPts val="0"/>
              </a:spcAft>
              <a:buClr>
                <a:srgbClr val="BB0000"/>
              </a:buClr>
              <a:buSzPts val="2000"/>
              <a:buFont typeface="Arial"/>
              <a:buNone/>
              <a:defRPr sz="2000" b="1" i="0" u="none" strike="noStrike" cap="none">
                <a:solidFill>
                  <a:srgbClr val="BB0000"/>
                </a:solidFill>
                <a:latin typeface="Arial"/>
                <a:ea typeface="Arial"/>
                <a:cs typeface="Arial"/>
                <a:sym typeface="Arial"/>
              </a:defRPr>
            </a:lvl1pPr>
            <a:lvl2pPr marL="914400" marR="0" lvl="1" indent="-330200" algn="l" rtl="0">
              <a:lnSpc>
                <a:spcPct val="100000"/>
              </a:lnSpc>
              <a:spcBef>
                <a:spcPts val="200"/>
              </a:spcBef>
              <a:spcAft>
                <a:spcPts val="0"/>
              </a:spcAft>
              <a:buClr>
                <a:srgbClr val="BB0000"/>
              </a:buClr>
              <a:buSzPts val="1600"/>
              <a:buFont typeface="Arial"/>
              <a:buChar char="•"/>
              <a:defRPr sz="1600" b="0" i="0" u="none" strike="noStrike" cap="none">
                <a:solidFill>
                  <a:srgbClr val="595959"/>
                </a:solidFill>
                <a:latin typeface="Arial"/>
                <a:ea typeface="Arial"/>
                <a:cs typeface="Arial"/>
                <a:sym typeface="Arial"/>
              </a:defRPr>
            </a:lvl2pPr>
            <a:lvl3pPr marL="1371600" marR="0" lvl="2" indent="-330200" algn="l" rtl="0">
              <a:lnSpc>
                <a:spcPct val="100000"/>
              </a:lnSpc>
              <a:spcBef>
                <a:spcPts val="200"/>
              </a:spcBef>
              <a:spcAft>
                <a:spcPts val="0"/>
              </a:spcAft>
              <a:buClr>
                <a:srgbClr val="BB0000"/>
              </a:buClr>
              <a:buSzPts val="1600"/>
              <a:buFont typeface="Arial"/>
              <a:buChar char="•"/>
              <a:defRPr sz="16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800"/>
              <a:buFont typeface="Arial"/>
              <a:buNone/>
              <a:defRPr sz="18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hoto-Text Slide">
  <p:cSld name="Photo-Text Slide">
    <p:spTree>
      <p:nvGrpSpPr>
        <p:cNvPr id="1" name="Shape 28"/>
        <p:cNvGrpSpPr/>
        <p:nvPr/>
      </p:nvGrpSpPr>
      <p:grpSpPr>
        <a:xfrm>
          <a:off x="0" y="0"/>
          <a:ext cx="0" cy="0"/>
          <a:chOff x="0" y="0"/>
          <a:chExt cx="0" cy="0"/>
        </a:xfrm>
      </p:grpSpPr>
      <p:sp>
        <p:nvSpPr>
          <p:cNvPr id="29" name="Google Shape;29;p7"/>
          <p:cNvSpPr>
            <a:spLocks noGrp="1"/>
          </p:cNvSpPr>
          <p:nvPr>
            <p:ph type="pic" idx="2"/>
          </p:nvPr>
        </p:nvSpPr>
        <p:spPr>
          <a:xfrm>
            <a:off x="0" y="692952"/>
            <a:ext cx="3883800" cy="44505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600"/>
              </a:spcBef>
              <a:spcAft>
                <a:spcPts val="0"/>
              </a:spcAft>
              <a:buClr>
                <a:srgbClr val="BFBFBF"/>
              </a:buClr>
              <a:buSzPts val="3200"/>
              <a:buFont typeface="Arial"/>
              <a:buNone/>
              <a:defRPr sz="3200" b="0" i="0" u="none" strike="noStrike" cap="none">
                <a:solidFill>
                  <a:srgbClr val="BFBFBF"/>
                </a:solidFill>
                <a:latin typeface="Arial"/>
                <a:ea typeface="Arial"/>
                <a:cs typeface="Arial"/>
                <a:sym typeface="Arial"/>
              </a:defRPr>
            </a:lvl1pPr>
            <a:lvl2pPr marR="0" lvl="1" algn="l" rtl="0">
              <a:lnSpc>
                <a:spcPct val="100000"/>
              </a:lnSpc>
              <a:spcBef>
                <a:spcPts val="6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1"/>
          </p:nvPr>
        </p:nvSpPr>
        <p:spPr>
          <a:xfrm>
            <a:off x="4137593" y="1372791"/>
            <a:ext cx="4701600" cy="3165300"/>
          </a:xfrm>
          <a:prstGeom prst="rect">
            <a:avLst/>
          </a:prstGeom>
          <a:noFill/>
          <a:ln w="9525" cap="flat" cmpd="sng">
            <a:solidFill>
              <a:srgbClr val="FFFFFF"/>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l" rtl="0">
              <a:lnSpc>
                <a:spcPct val="107499"/>
              </a:lnSpc>
              <a:spcBef>
                <a:spcPts val="0"/>
              </a:spcBef>
              <a:spcAft>
                <a:spcPts val="0"/>
              </a:spcAft>
              <a:buClr>
                <a:srgbClr val="BB0000"/>
              </a:buClr>
              <a:buSzPts val="3200"/>
              <a:buFont typeface="Arial"/>
              <a:buNone/>
              <a:defRPr sz="3200" b="0" i="0" u="none" strike="noStrike" cap="none">
                <a:solidFill>
                  <a:srgbClr val="BB0000"/>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636D6E"/>
              </a:buClr>
              <a:buSzPts val="2000"/>
              <a:buFont typeface="Arial"/>
              <a:buChar char="•"/>
              <a:defRPr sz="2000" b="0" i="0" u="none" strike="noStrike" cap="none">
                <a:solidFill>
                  <a:srgbClr val="636D6E"/>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636D6E"/>
              </a:buClr>
              <a:buSzPts val="1600"/>
              <a:buFont typeface="Arial"/>
              <a:buNone/>
              <a:defRPr sz="1600" b="0" i="0" u="none" strike="noStrike" cap="none">
                <a:solidFill>
                  <a:srgbClr val="636D6E"/>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7"/>
          <p:cNvSpPr txBox="1">
            <a:spLocks noGrp="1"/>
          </p:cNvSpPr>
          <p:nvPr>
            <p:ph type="body" idx="3"/>
          </p:nvPr>
        </p:nvSpPr>
        <p:spPr>
          <a:xfrm>
            <a:off x="5573888" y="172358"/>
            <a:ext cx="3392100" cy="5016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2" name="Google Shape;32;p7"/>
          <p:cNvSpPr txBox="1">
            <a:spLocks noGrp="1"/>
          </p:cNvSpPr>
          <p:nvPr>
            <p:ph type="body" idx="4"/>
          </p:nvPr>
        </p:nvSpPr>
        <p:spPr>
          <a:xfrm>
            <a:off x="4315390" y="789715"/>
            <a:ext cx="4642800" cy="477000"/>
          </a:xfrm>
          <a:prstGeom prst="rect">
            <a:avLst/>
          </a:prstGeom>
          <a:noFill/>
          <a:ln w="952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02531"/>
              </a:lnSpc>
              <a:spcBef>
                <a:spcPts val="0"/>
              </a:spcBef>
              <a:spcAft>
                <a:spcPts val="0"/>
              </a:spcAft>
              <a:buClr>
                <a:srgbClr val="636D6E"/>
              </a:buClr>
              <a:buSzPts val="1600"/>
              <a:buFont typeface="Arial"/>
              <a:buNone/>
              <a:defRPr sz="1600" b="1" i="0" u="none" strike="noStrike" cap="none">
                <a:solidFill>
                  <a:srgbClr val="636D6E"/>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
        <p:cNvGrpSpPr/>
        <p:nvPr/>
      </p:nvGrpSpPr>
      <p:grpSpPr>
        <a:xfrm>
          <a:off x="0" y="0"/>
          <a:ext cx="0" cy="0"/>
          <a:chOff x="0" y="0"/>
          <a:chExt cx="0" cy="0"/>
        </a:xfrm>
      </p:grpSpPr>
      <p:sp>
        <p:nvSpPr>
          <p:cNvPr id="34" name="Google Shape;34;p8"/>
          <p:cNvSpPr txBox="1">
            <a:spLocks noGrp="1"/>
          </p:cNvSpPr>
          <p:nvPr>
            <p:ph type="body" idx="1"/>
          </p:nvPr>
        </p:nvSpPr>
        <p:spPr>
          <a:xfrm>
            <a:off x="5573888" y="172358"/>
            <a:ext cx="3392100" cy="501600"/>
          </a:xfrm>
          <a:prstGeom prst="rect">
            <a:avLst/>
          </a:prstGeom>
          <a:noFill/>
          <a:ln w="9525" cap="flat" cmpd="sng">
            <a:solidFill>
              <a:srgbClr val="636D6E"/>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26197"/>
              </a:lnSpc>
              <a:spcBef>
                <a:spcPts val="0"/>
              </a:spcBef>
              <a:spcAft>
                <a:spcPts val="0"/>
              </a:spcAft>
              <a:buClr>
                <a:schemeClr val="lt1"/>
              </a:buClr>
              <a:buSzPts val="1300"/>
              <a:buFont typeface="Arial"/>
              <a:buNone/>
              <a:defRPr sz="1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5" name="Google Shape;35;p8"/>
          <p:cNvSpPr txBox="1">
            <a:spLocks noGrp="1"/>
          </p:cNvSpPr>
          <p:nvPr>
            <p:ph type="body" idx="2"/>
          </p:nvPr>
        </p:nvSpPr>
        <p:spPr>
          <a:xfrm>
            <a:off x="4315390" y="789715"/>
            <a:ext cx="4642800" cy="477000"/>
          </a:xfrm>
          <a:prstGeom prst="rect">
            <a:avLst/>
          </a:prstGeom>
          <a:noFill/>
          <a:ln w="952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r" rtl="0">
              <a:lnSpc>
                <a:spcPct val="102531"/>
              </a:lnSpc>
              <a:spcBef>
                <a:spcPts val="0"/>
              </a:spcBef>
              <a:spcAft>
                <a:spcPts val="0"/>
              </a:spcAft>
              <a:buClr>
                <a:srgbClr val="636D6E"/>
              </a:buClr>
              <a:buSzPts val="1600"/>
              <a:buFont typeface="Arial"/>
              <a:buNone/>
              <a:defRPr sz="1600" b="1" i="0" u="none" strike="noStrike" cap="none">
                <a:solidFill>
                  <a:srgbClr val="636D6E"/>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6" name="Google Shape;36;p8"/>
          <p:cNvSpPr txBox="1">
            <a:spLocks noGrp="1"/>
          </p:cNvSpPr>
          <p:nvPr>
            <p:ph type="body" idx="3"/>
          </p:nvPr>
        </p:nvSpPr>
        <p:spPr>
          <a:xfrm>
            <a:off x="1400403" y="1372791"/>
            <a:ext cx="6527700" cy="3394500"/>
          </a:xfrm>
          <a:prstGeom prst="rect">
            <a:avLst/>
          </a:prstGeom>
          <a:noFill/>
          <a:ln w="9525" cap="flat" cmpd="sng">
            <a:solidFill>
              <a:srgbClr val="FFFFFF"/>
            </a:solidFill>
            <a:prstDash val="solid"/>
            <a:round/>
            <a:headEnd type="none" w="sm" len="sm"/>
            <a:tailEnd type="none" w="sm" len="sm"/>
          </a:ln>
        </p:spPr>
        <p:txBody>
          <a:bodyPr spcFirstLastPara="1" wrap="square" lIns="68575" tIns="34275" rIns="68575" bIns="34275" anchor="t" anchorCtr="0">
            <a:noAutofit/>
          </a:bodyPr>
          <a:lstStyle>
            <a:lvl1pPr marL="457200" marR="0" lvl="0" indent="-228600" algn="ctr" rtl="0">
              <a:lnSpc>
                <a:spcPct val="107499"/>
              </a:lnSpc>
              <a:spcBef>
                <a:spcPts val="0"/>
              </a:spcBef>
              <a:spcAft>
                <a:spcPts val="0"/>
              </a:spcAft>
              <a:buClr>
                <a:srgbClr val="BFBFBF"/>
              </a:buClr>
              <a:buSzPts val="3200"/>
              <a:buFont typeface="Arial"/>
              <a:buNone/>
              <a:defRPr sz="3200" b="0" i="0" u="none" strike="noStrike" cap="none">
                <a:solidFill>
                  <a:srgbClr val="BFBFBF"/>
                </a:solidFill>
                <a:latin typeface="Arial"/>
                <a:ea typeface="Arial"/>
                <a:cs typeface="Arial"/>
                <a:sym typeface="Arial"/>
              </a:defRPr>
            </a:lvl1pPr>
            <a:lvl2pPr marL="914400" marR="0" lvl="1" indent="-228600" algn="l" rtl="0">
              <a:lnSpc>
                <a:spcPct val="100000"/>
              </a:lnSpc>
              <a:spcBef>
                <a:spcPts val="600"/>
              </a:spcBef>
              <a:spcAft>
                <a:spcPts val="0"/>
              </a:spcAft>
              <a:buClr>
                <a:srgbClr val="595959"/>
              </a:buClr>
              <a:buSzPts val="2400"/>
              <a:buFont typeface="Arial"/>
              <a:buNone/>
              <a:defRPr sz="2400" b="0" i="0" u="none" strike="noStrike" cap="none">
                <a:solidFill>
                  <a:srgbClr val="595959"/>
                </a:solidFill>
                <a:latin typeface="Arial"/>
                <a:ea typeface="Arial"/>
                <a:cs typeface="Arial"/>
                <a:sym typeface="Arial"/>
              </a:defRPr>
            </a:lvl2pPr>
            <a:lvl3pPr marL="1371600" marR="0" lvl="2" indent="-355600" algn="l" rtl="0">
              <a:lnSpc>
                <a:spcPct val="100000"/>
              </a:lnSpc>
              <a:spcBef>
                <a:spcPts val="0"/>
              </a:spcBef>
              <a:spcAft>
                <a:spcPts val="0"/>
              </a:spcAft>
              <a:buClr>
                <a:srgbClr val="595959"/>
              </a:buClr>
              <a:buSzPts val="2000"/>
              <a:buFont typeface="Arial"/>
              <a:buChar char="•"/>
              <a:defRPr sz="2000" b="0" i="0" u="none" strike="noStrike" cap="none">
                <a:solidFill>
                  <a:srgbClr val="595959"/>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lnSpc>
                <a:spcPct val="100000"/>
              </a:lnSpc>
              <a:spcBef>
                <a:spcPts val="40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5200"/>
              <a:buChar char="●"/>
              <a:defRPr sz="5200"/>
            </a:lvl1pPr>
            <a:lvl2pPr lvl="1" algn="ctr" rtl="0">
              <a:spcBef>
                <a:spcPts val="0"/>
              </a:spcBef>
              <a:spcAft>
                <a:spcPts val="0"/>
              </a:spcAft>
              <a:buSzPts val="5200"/>
              <a:buChar char="○"/>
              <a:defRPr sz="5200"/>
            </a:lvl2pPr>
            <a:lvl3pPr lvl="2" algn="ctr" rtl="0">
              <a:spcBef>
                <a:spcPts val="0"/>
              </a:spcBef>
              <a:spcAft>
                <a:spcPts val="0"/>
              </a:spcAft>
              <a:buSzPts val="5200"/>
              <a:buChar char="■"/>
              <a:defRPr sz="5200"/>
            </a:lvl3pPr>
            <a:lvl4pPr lvl="3" algn="ctr" rtl="0">
              <a:spcBef>
                <a:spcPts val="0"/>
              </a:spcBef>
              <a:spcAft>
                <a:spcPts val="0"/>
              </a:spcAft>
              <a:buSzPts val="5200"/>
              <a:buChar char="●"/>
              <a:defRPr sz="5200"/>
            </a:lvl4pPr>
            <a:lvl5pPr lvl="4" algn="ctr" rtl="0">
              <a:spcBef>
                <a:spcPts val="0"/>
              </a:spcBef>
              <a:spcAft>
                <a:spcPts val="0"/>
              </a:spcAft>
              <a:buSzPts val="5200"/>
              <a:buChar char="○"/>
              <a:defRPr sz="5200"/>
            </a:lvl5pPr>
            <a:lvl6pPr lvl="5" algn="ctr" rtl="0">
              <a:spcBef>
                <a:spcPts val="0"/>
              </a:spcBef>
              <a:spcAft>
                <a:spcPts val="0"/>
              </a:spcAft>
              <a:buSzPts val="5200"/>
              <a:buChar char="■"/>
              <a:defRPr sz="5200"/>
            </a:lvl6pPr>
            <a:lvl7pPr lvl="6" algn="ctr" rtl="0">
              <a:spcBef>
                <a:spcPts val="0"/>
              </a:spcBef>
              <a:spcAft>
                <a:spcPts val="0"/>
              </a:spcAft>
              <a:buSzPts val="5200"/>
              <a:buChar char="●"/>
              <a:defRPr sz="5200"/>
            </a:lvl7pPr>
            <a:lvl8pPr lvl="7" algn="ctr" rtl="0">
              <a:spcBef>
                <a:spcPts val="0"/>
              </a:spcBef>
              <a:spcAft>
                <a:spcPts val="0"/>
              </a:spcAft>
              <a:buSzPts val="5200"/>
              <a:buChar char="○"/>
              <a:defRPr sz="5200"/>
            </a:lvl8pPr>
            <a:lvl9pPr lvl="8" algn="ctr" rtl="0">
              <a:spcBef>
                <a:spcPts val="0"/>
              </a:spcBef>
              <a:spcAft>
                <a:spcPts val="0"/>
              </a:spcAft>
              <a:buSzPts val="5200"/>
              <a:buChar char="■"/>
              <a:defRPr sz="5200"/>
            </a:lvl9pPr>
          </a:lstStyle>
          <a:p>
            <a:endParaRPr/>
          </a:p>
        </p:txBody>
      </p:sp>
      <p:sp>
        <p:nvSpPr>
          <p:cNvPr id="39" name="Google Shape;39;p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3" name="Google Shape;43;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4" name="Google Shape;4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0" y="1"/>
            <a:ext cx="9144000" cy="682500"/>
          </a:xfrm>
          <a:prstGeom prst="rect">
            <a:avLst/>
          </a:prstGeom>
          <a:solidFill>
            <a:srgbClr val="636D6E"/>
          </a:solidFill>
          <a:ln>
            <a:noFill/>
          </a:ln>
          <a:effectLst>
            <a:outerShdw blurRad="40000" dist="23000" dir="5400000" rotWithShape="0">
              <a:srgbClr val="000000">
                <a:alpha val="34509"/>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 name="Google Shape;7;p1"/>
          <p:cNvSpPr/>
          <p:nvPr/>
        </p:nvSpPr>
        <p:spPr>
          <a:xfrm>
            <a:off x="8518368" y="4763429"/>
            <a:ext cx="389700" cy="3153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600"/>
              <a:buFont typeface="Arial"/>
              <a:buNone/>
            </a:pPr>
            <a:fld id="{00000000-1234-1234-1234-123412341234}" type="slidenum">
              <a:rPr lang="en" sz="1600" b="0" i="0" u="none" strike="noStrike" cap="none">
                <a:solidFill>
                  <a:srgbClr val="636D6E"/>
                </a:solidFill>
                <a:latin typeface="Arial"/>
                <a:ea typeface="Arial"/>
                <a:cs typeface="Arial"/>
                <a:sym typeface="Arial"/>
              </a:rPr>
              <a:t>‹#›</a:t>
            </a:fld>
            <a:endParaRPr sz="1600" b="0" i="0" u="none" strike="noStrike" cap="none">
              <a:solidFill>
                <a:srgbClr val="636D6E"/>
              </a:solidFill>
              <a:latin typeface="Arial"/>
              <a:ea typeface="Arial"/>
              <a:cs typeface="Arial"/>
              <a:sym typeface="Arial"/>
            </a:endParaRPr>
          </a:p>
        </p:txBody>
      </p:sp>
      <p:pic>
        <p:nvPicPr>
          <p:cNvPr id="8" name="Google Shape;8;p1" descr="OSU-Engineering-K-Horiz-RGBHEX white.eps"/>
          <p:cNvPicPr preferRelativeResize="0"/>
          <p:nvPr/>
        </p:nvPicPr>
        <p:blipFill rotWithShape="1">
          <a:blip r:embed="rId11">
            <a:alphaModFix/>
          </a:blip>
          <a:srcRect/>
          <a:stretch/>
        </p:blipFill>
        <p:spPr>
          <a:xfrm>
            <a:off x="306917" y="158703"/>
            <a:ext cx="2438400" cy="3534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www.bing.com/search?q=Monte+Carlo+method&amp;filters=sid%3a2d9ce3b3-e6ee-def1-064c-ea0ad07d93bc&amp;form=ENTLNK"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1"/>
          <p:cNvSpPr txBox="1">
            <a:spLocks noGrp="1"/>
          </p:cNvSpPr>
          <p:nvPr>
            <p:ph type="ctrTitle"/>
          </p:nvPr>
        </p:nvSpPr>
        <p:spPr>
          <a:xfrm>
            <a:off x="311708" y="95932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500" dirty="0">
                <a:solidFill>
                  <a:schemeClr val="accent6"/>
                </a:solidFill>
              </a:rPr>
              <a:t>X-ray Detector Simulation Project using GEANT4 and COMSOL</a:t>
            </a:r>
            <a:endParaRPr sz="4500" dirty="0">
              <a:solidFill>
                <a:schemeClr val="accent6"/>
              </a:solidFill>
            </a:endParaRPr>
          </a:p>
        </p:txBody>
      </p:sp>
      <p:sp>
        <p:nvSpPr>
          <p:cNvPr id="50" name="Google Shape;50;p11"/>
          <p:cNvSpPr txBox="1">
            <a:spLocks noGrp="1"/>
          </p:cNvSpPr>
          <p:nvPr>
            <p:ph type="subTitle" idx="1"/>
          </p:nvPr>
        </p:nvSpPr>
        <p:spPr>
          <a:xfrm>
            <a:off x="311700" y="3456175"/>
            <a:ext cx="8520600" cy="79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rgbClr val="637052"/>
                </a:solidFill>
              </a:rPr>
              <a:t>ANDREW MAIER, AYUB SHERIF, BRADLEY STEINBAUER, MOHAMMED ALSOWAIGH</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311700" y="89120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a:t>Outline </a:t>
            </a:r>
            <a:endParaRPr sz="2800"/>
          </a:p>
        </p:txBody>
      </p:sp>
      <p:sp>
        <p:nvSpPr>
          <p:cNvPr id="56" name="Google Shape;56;p12"/>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457200" lvl="0" indent="-355600" algn="l" rtl="0">
              <a:spcBef>
                <a:spcPts val="0"/>
              </a:spcBef>
              <a:spcAft>
                <a:spcPts val="0"/>
              </a:spcAft>
              <a:buSzPts val="2000"/>
              <a:buChar char="●"/>
            </a:pPr>
            <a:r>
              <a:rPr lang="en" sz="2000" dirty="0"/>
              <a:t>Timeline </a:t>
            </a:r>
            <a:endParaRPr sz="2000" dirty="0"/>
          </a:p>
          <a:p>
            <a:pPr marL="457200" lvl="0" indent="-355600" algn="l" rtl="0">
              <a:spcBef>
                <a:spcPts val="0"/>
              </a:spcBef>
              <a:spcAft>
                <a:spcPts val="0"/>
              </a:spcAft>
              <a:buSzPts val="2000"/>
              <a:buChar char="●"/>
            </a:pPr>
            <a:r>
              <a:rPr lang="en" sz="2000" dirty="0"/>
              <a:t>Objectives/Goals </a:t>
            </a:r>
            <a:endParaRPr sz="2000" dirty="0"/>
          </a:p>
          <a:p>
            <a:pPr marL="457200" lvl="0" indent="-355600" algn="l" rtl="0">
              <a:spcBef>
                <a:spcPts val="0"/>
              </a:spcBef>
              <a:spcAft>
                <a:spcPts val="0"/>
              </a:spcAft>
              <a:buSzPts val="2000"/>
              <a:buChar char="●"/>
            </a:pPr>
            <a:r>
              <a:rPr lang="en" sz="2000" dirty="0"/>
              <a:t>Introduction </a:t>
            </a:r>
            <a:endParaRPr sz="2000" dirty="0"/>
          </a:p>
          <a:p>
            <a:pPr marL="457200" lvl="0" indent="-355600" algn="l" rtl="0">
              <a:spcBef>
                <a:spcPts val="0"/>
              </a:spcBef>
              <a:spcAft>
                <a:spcPts val="0"/>
              </a:spcAft>
              <a:buClr>
                <a:schemeClr val="dk1"/>
              </a:buClr>
              <a:buSzPts val="2000"/>
              <a:buChar char="●"/>
            </a:pPr>
            <a:r>
              <a:rPr lang="en" sz="2000" dirty="0">
                <a:solidFill>
                  <a:schemeClr val="dk1"/>
                </a:solidFill>
              </a:rPr>
              <a:t>GEANT4 Results</a:t>
            </a:r>
            <a:endParaRPr sz="2000" dirty="0">
              <a:solidFill>
                <a:schemeClr val="dk1"/>
              </a:solidFill>
            </a:endParaRPr>
          </a:p>
          <a:p>
            <a:pPr marL="457200" lvl="0" indent="-355600" algn="l" rtl="0">
              <a:spcBef>
                <a:spcPts val="0"/>
              </a:spcBef>
              <a:spcAft>
                <a:spcPts val="0"/>
              </a:spcAft>
              <a:buClr>
                <a:schemeClr val="dk1"/>
              </a:buClr>
              <a:buSzPts val="2000"/>
              <a:buChar char="●"/>
            </a:pPr>
            <a:r>
              <a:rPr lang="en" sz="2000" dirty="0">
                <a:solidFill>
                  <a:schemeClr val="dk1"/>
                </a:solidFill>
              </a:rPr>
              <a:t>COMSOL Results</a:t>
            </a:r>
            <a:endParaRPr sz="2000" dirty="0">
              <a:solidFill>
                <a:schemeClr val="dk1"/>
              </a:solidFill>
            </a:endParaRPr>
          </a:p>
          <a:p>
            <a:pPr marL="457200" lvl="0" indent="-355600" algn="l" rtl="0">
              <a:spcBef>
                <a:spcPts val="0"/>
              </a:spcBef>
              <a:spcAft>
                <a:spcPts val="0"/>
              </a:spcAft>
              <a:buClr>
                <a:schemeClr val="dk1"/>
              </a:buClr>
              <a:buSzPts val="2000"/>
              <a:buChar char="●"/>
            </a:pPr>
            <a:r>
              <a:rPr lang="en" sz="2000" dirty="0">
                <a:solidFill>
                  <a:schemeClr val="dk1"/>
                </a:solidFill>
              </a:rPr>
              <a:t>Advantages and Disadvantages </a:t>
            </a:r>
            <a:endParaRPr sz="20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311700" y="80445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Timeline </a:t>
            </a:r>
            <a:endParaRPr sz="2600"/>
          </a:p>
        </p:txBody>
      </p:sp>
      <p:sp>
        <p:nvSpPr>
          <p:cNvPr id="62" name="Google Shape;62;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1- Our first meeting on Zoom 3/8 ( Assigning Tasks) </a:t>
            </a:r>
            <a:endParaRPr sz="2000"/>
          </a:p>
          <a:p>
            <a:pPr marL="0" lvl="0" indent="0" algn="l" rtl="0">
              <a:spcBef>
                <a:spcPts val="0"/>
              </a:spcBef>
              <a:spcAft>
                <a:spcPts val="0"/>
              </a:spcAft>
              <a:buNone/>
            </a:pPr>
            <a:r>
              <a:rPr lang="en" sz="2000"/>
              <a:t>2- Presenting Preliminary Plan  to the class 3/10</a:t>
            </a:r>
            <a:endParaRPr sz="2000"/>
          </a:p>
          <a:p>
            <a:pPr marL="0" lvl="0" indent="0" algn="l" rtl="0">
              <a:spcBef>
                <a:spcPts val="0"/>
              </a:spcBef>
              <a:spcAft>
                <a:spcPts val="0"/>
              </a:spcAft>
              <a:buNone/>
            </a:pPr>
            <a:r>
              <a:rPr lang="en" sz="2000"/>
              <a:t>3- Research and read about the topic ( week of 3/15)</a:t>
            </a:r>
            <a:endParaRPr sz="2000"/>
          </a:p>
          <a:p>
            <a:pPr marL="0" lvl="0" indent="0" algn="l" rtl="0">
              <a:spcBef>
                <a:spcPts val="0"/>
              </a:spcBef>
              <a:spcAft>
                <a:spcPts val="0"/>
              </a:spcAft>
              <a:buNone/>
            </a:pPr>
            <a:r>
              <a:rPr lang="en" sz="2000"/>
              <a:t>4- Installing the programs ( week of 3/22)</a:t>
            </a:r>
            <a:endParaRPr sz="2000"/>
          </a:p>
          <a:p>
            <a:pPr marL="0" lvl="0" indent="0" algn="l" rtl="0">
              <a:spcBef>
                <a:spcPts val="0"/>
              </a:spcBef>
              <a:spcAft>
                <a:spcPts val="0"/>
              </a:spcAft>
              <a:buNone/>
            </a:pPr>
            <a:r>
              <a:rPr lang="en" sz="2000"/>
              <a:t>5- Second meeting 3/28 ( Solving some installation problems)</a:t>
            </a:r>
            <a:endParaRPr sz="2000"/>
          </a:p>
          <a:p>
            <a:pPr marL="0" lvl="0" indent="0" algn="l" rtl="0">
              <a:spcBef>
                <a:spcPts val="0"/>
              </a:spcBef>
              <a:spcAft>
                <a:spcPts val="0"/>
              </a:spcAft>
              <a:buNone/>
            </a:pPr>
            <a:r>
              <a:rPr lang="en" sz="2000"/>
              <a:t>6- Running the simulations ( week of 3/29)</a:t>
            </a:r>
            <a:endParaRPr sz="2000"/>
          </a:p>
          <a:p>
            <a:pPr marL="0" lvl="0" indent="0" algn="l" rtl="0">
              <a:spcBef>
                <a:spcPts val="0"/>
              </a:spcBef>
              <a:spcAft>
                <a:spcPts val="0"/>
              </a:spcAft>
              <a:buNone/>
            </a:pPr>
            <a:r>
              <a:rPr lang="en" sz="2000"/>
              <a:t>7- Third meeting 4/10 ( discussing the results and rearrange the tasks)</a:t>
            </a:r>
            <a:endParaRPr sz="2000"/>
          </a:p>
          <a:p>
            <a:pPr marL="0" lvl="0" indent="0" algn="l" rtl="0">
              <a:spcBef>
                <a:spcPts val="0"/>
              </a:spcBef>
              <a:spcAft>
                <a:spcPts val="0"/>
              </a:spcAft>
              <a:buNone/>
            </a:pPr>
            <a:r>
              <a:rPr lang="en" sz="2000"/>
              <a:t>8- Preparing the final presentation 4/17</a:t>
            </a:r>
            <a:endParaRPr sz="2000"/>
          </a:p>
          <a:p>
            <a:pPr marL="0" lvl="0" indent="0" algn="l" rtl="0">
              <a:spcBef>
                <a:spcPts val="0"/>
              </a:spcBef>
              <a:spcAft>
                <a:spcPts val="0"/>
              </a:spcAft>
              <a:buNone/>
            </a:pPr>
            <a:r>
              <a:rPr lang="en" sz="2000"/>
              <a:t>9- Submitting the Report 4/23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311700" y="5797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rPr>
              <a:t>Objectives/Goals</a:t>
            </a:r>
            <a:endParaRPr/>
          </a:p>
        </p:txBody>
      </p:sp>
      <p:sp>
        <p:nvSpPr>
          <p:cNvPr id="68" name="Google Shape;68;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457200" lvl="0" indent="-355600" algn="l" rtl="0">
              <a:spcBef>
                <a:spcPts val="0"/>
              </a:spcBef>
              <a:spcAft>
                <a:spcPts val="0"/>
              </a:spcAft>
              <a:buSzPts val="2000"/>
              <a:buChar char="●"/>
            </a:pPr>
            <a:r>
              <a:rPr lang="en" sz="2000"/>
              <a:t>Initial goals are to learn to develop an understanding of COMSOL and learn how to develop or import CAD models into COMSOL using existing examples.</a:t>
            </a:r>
            <a:endParaRPr sz="2000"/>
          </a:p>
          <a:p>
            <a:pPr marL="457200" lvl="0" indent="0" algn="l" rtl="0">
              <a:spcBef>
                <a:spcPts val="0"/>
              </a:spcBef>
              <a:spcAft>
                <a:spcPts val="0"/>
              </a:spcAft>
              <a:buNone/>
            </a:pPr>
            <a:r>
              <a:rPr lang="en" sz="2000"/>
              <a:t>​</a:t>
            </a:r>
            <a:endParaRPr sz="2000"/>
          </a:p>
          <a:p>
            <a:pPr marL="457200" lvl="0" indent="-355600" algn="l" rtl="0">
              <a:spcBef>
                <a:spcPts val="0"/>
              </a:spcBef>
              <a:spcAft>
                <a:spcPts val="0"/>
              </a:spcAft>
              <a:buSzPts val="2000"/>
              <a:buChar char="●"/>
            </a:pPr>
            <a:r>
              <a:rPr lang="en" sz="2000"/>
              <a:t>Initial goals for using Geant4 in this project are to install the core libraries and pre-compiled libraries to test example simulations that may be similar to the X-ray particle simulations we are interested in running.</a:t>
            </a:r>
            <a:endParaRPr sz="2000"/>
          </a:p>
          <a:p>
            <a:pPr marL="45720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Building up a deep understanding about how radiation simulations work and being familiar with.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7300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Introduction </a:t>
            </a:r>
            <a:endParaRPr sz="2600"/>
          </a:p>
        </p:txBody>
      </p:sp>
      <p:sp>
        <p:nvSpPr>
          <p:cNvPr id="74" name="Google Shape;74;p15"/>
          <p:cNvSpPr txBox="1">
            <a:spLocks noGrp="1"/>
          </p:cNvSpPr>
          <p:nvPr>
            <p:ph type="body" idx="1"/>
          </p:nvPr>
        </p:nvSpPr>
        <p:spPr>
          <a:xfrm>
            <a:off x="311700" y="1449925"/>
            <a:ext cx="8520600" cy="3416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X-ray imaging systems have been widely used in the fields of medical and industrial applications.</a:t>
            </a:r>
            <a:endParaRPr sz="2000"/>
          </a:p>
          <a:p>
            <a:pPr marL="457200" lvl="0" indent="0" algn="l" rtl="0">
              <a:spcBef>
                <a:spcPts val="0"/>
              </a:spcBef>
              <a:spcAft>
                <a:spcPts val="0"/>
              </a:spcAft>
              <a:buNone/>
            </a:pPr>
            <a:r>
              <a:rPr lang="en" sz="2000"/>
              <a:t> </a:t>
            </a:r>
            <a:endParaRPr sz="2000"/>
          </a:p>
          <a:p>
            <a:pPr marL="457200" lvl="0" indent="-355600" algn="l" rtl="0">
              <a:spcBef>
                <a:spcPts val="0"/>
              </a:spcBef>
              <a:spcAft>
                <a:spcPts val="0"/>
              </a:spcAft>
              <a:buSzPts val="2000"/>
              <a:buChar char="●"/>
            </a:pPr>
            <a:r>
              <a:rPr lang="en" sz="2000"/>
              <a:t>Great efforts also have been made for improving of detection systems and optimum design conditions of operating components e.g.</a:t>
            </a:r>
            <a:endParaRPr sz="2000"/>
          </a:p>
          <a:p>
            <a:pPr marL="914400" lvl="1" indent="-355600" algn="l" rtl="0">
              <a:spcBef>
                <a:spcPts val="0"/>
              </a:spcBef>
              <a:spcAft>
                <a:spcPts val="0"/>
              </a:spcAft>
              <a:buSzPts val="2000"/>
              <a:buChar char="○"/>
            </a:pPr>
            <a:r>
              <a:rPr lang="en" sz="2000"/>
              <a:t>X-ray sources, detection media</a:t>
            </a:r>
            <a:endParaRPr sz="2000"/>
          </a:p>
          <a:p>
            <a:pPr marL="91440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To estimate or improve the system, it is necessary to evaluate the effects of each parameter in the X-ray imaging chain. Done via</a:t>
            </a:r>
            <a:endParaRPr sz="2000"/>
          </a:p>
          <a:p>
            <a:pPr marL="457200" lvl="0" indent="457200" algn="l" rtl="0">
              <a:spcBef>
                <a:spcPts val="0"/>
              </a:spcBef>
              <a:spcAft>
                <a:spcPts val="0"/>
              </a:spcAft>
              <a:buNone/>
            </a:pPr>
            <a:r>
              <a:rPr lang="en" sz="2000"/>
              <a:t>individual experiments on each component.</a:t>
            </a:r>
            <a:endParaRPr sz="2000"/>
          </a:p>
          <a:p>
            <a:pPr marL="457200" lvl="0" indent="457200" algn="l" rtl="0">
              <a:spcBef>
                <a:spcPts val="0"/>
              </a:spcBef>
              <a:spcAft>
                <a:spcPts val="0"/>
              </a:spcAft>
              <a:buNone/>
            </a:pPr>
            <a:r>
              <a:rPr lang="en" sz="2000"/>
              <a:t>												</a:t>
            </a:r>
            <a:r>
              <a:rPr lang="en" sz="1800">
                <a:solidFill>
                  <a:srgbClr val="333333"/>
                </a:solidFill>
                <a:highlight>
                  <a:srgbClr val="FFFFFF"/>
                </a:highlight>
                <a:latin typeface="Times New Roman"/>
                <a:ea typeface="Times New Roman"/>
                <a:cs typeface="Times New Roman"/>
                <a:sym typeface="Times New Roman"/>
              </a:rPr>
              <a:t>Ahn  </a:t>
            </a:r>
            <a:r>
              <a:rPr lang="en" sz="1800" i="1">
                <a:solidFill>
                  <a:srgbClr val="333333"/>
                </a:solidFill>
                <a:highlight>
                  <a:srgbClr val="FFFFFF"/>
                </a:highlight>
                <a:latin typeface="Times New Roman"/>
                <a:ea typeface="Times New Roman"/>
                <a:cs typeface="Times New Roman"/>
                <a:sym typeface="Times New Roman"/>
              </a:rPr>
              <a:t>et al</a:t>
            </a:r>
            <a:r>
              <a:rPr lang="en" sz="1800">
                <a:solidFill>
                  <a:srgbClr val="333333"/>
                </a:solidFill>
                <a:highlight>
                  <a:srgbClr val="FFFFFF"/>
                </a:highlight>
                <a:latin typeface="Times New Roman"/>
                <a:ea typeface="Times New Roman"/>
                <a:cs typeface="Times New Roman"/>
                <a:sym typeface="Times New Roman"/>
              </a:rPr>
              <a:t>., 2003</a:t>
            </a:r>
            <a:endParaRPr sz="2600"/>
          </a:p>
          <a:p>
            <a:pPr marL="457200" lvl="0" indent="0" algn="l" rtl="0">
              <a:spcBef>
                <a:spcPts val="0"/>
              </a:spcBef>
              <a:spcAft>
                <a:spcPts val="0"/>
              </a:spcAft>
              <a:buNone/>
            </a:pP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311700" y="7300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Introduction </a:t>
            </a:r>
            <a:endParaRPr sz="2600"/>
          </a:p>
        </p:txBody>
      </p:sp>
      <p:sp>
        <p:nvSpPr>
          <p:cNvPr id="80" name="Google Shape;80;p16"/>
          <p:cNvSpPr txBox="1">
            <a:spLocks noGrp="1"/>
          </p:cNvSpPr>
          <p:nvPr>
            <p:ph type="body" idx="1"/>
          </p:nvPr>
        </p:nvSpPr>
        <p:spPr>
          <a:xfrm>
            <a:off x="311700" y="1449925"/>
            <a:ext cx="8520600" cy="36450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One can evaluate the system performance in terms of the MTF and DQE using the linear system model.</a:t>
            </a:r>
            <a:endParaRPr sz="2000"/>
          </a:p>
          <a:p>
            <a:pPr marL="45720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One of the other methods is the simulation of the imaging system with varying parameters.</a:t>
            </a:r>
            <a:endParaRPr sz="2000"/>
          </a:p>
          <a:p>
            <a:pPr marL="457200" lvl="0" indent="0" algn="l" rtl="0">
              <a:spcBef>
                <a:spcPts val="0"/>
              </a:spcBef>
              <a:spcAft>
                <a:spcPts val="0"/>
              </a:spcAft>
              <a:buNone/>
            </a:pPr>
            <a:endParaRPr sz="2000"/>
          </a:p>
          <a:p>
            <a:pPr marL="457200" lvl="0" indent="-355600" algn="l" rtl="0">
              <a:spcBef>
                <a:spcPts val="0"/>
              </a:spcBef>
              <a:spcAft>
                <a:spcPts val="0"/>
              </a:spcAft>
              <a:buSzPts val="2000"/>
              <a:buChar char="●"/>
            </a:pPr>
            <a:r>
              <a:rPr lang="en" sz="2000"/>
              <a:t>From the operation parametric point of view, simulated images, which can be obtained in short time and a simple way, show the effects of each component in the system in visual.</a:t>
            </a:r>
            <a:endParaRPr sz="2000"/>
          </a:p>
          <a:p>
            <a:pPr marL="457200" lvl="0" indent="0" algn="l" rtl="0">
              <a:spcBef>
                <a:spcPts val="0"/>
              </a:spcBef>
              <a:spcAft>
                <a:spcPts val="0"/>
              </a:spcAft>
              <a:buNone/>
            </a:pPr>
            <a:endParaRPr sz="2000"/>
          </a:p>
          <a:p>
            <a:pPr marL="6400800" lvl="0" indent="0" algn="l" rtl="0">
              <a:spcBef>
                <a:spcPts val="0"/>
              </a:spcBef>
              <a:spcAft>
                <a:spcPts val="0"/>
              </a:spcAft>
              <a:buNone/>
            </a:pPr>
            <a:r>
              <a:rPr lang="en" sz="1800">
                <a:solidFill>
                  <a:schemeClr val="dk1"/>
                </a:solidFill>
                <a:latin typeface="Times New Roman"/>
                <a:ea typeface="Times New Roman"/>
                <a:cs typeface="Times New Roman"/>
                <a:sym typeface="Times New Roman"/>
              </a:rPr>
              <a:t>Rossi</a:t>
            </a:r>
            <a:r>
              <a:rPr lang="en" sz="1800">
                <a:solidFill>
                  <a:srgbClr val="333333"/>
                </a:solidFill>
                <a:highlight>
                  <a:srgbClr val="FFFFFF"/>
                </a:highlight>
                <a:latin typeface="Times New Roman"/>
                <a:ea typeface="Times New Roman"/>
                <a:cs typeface="Times New Roman"/>
                <a:sym typeface="Times New Roman"/>
              </a:rPr>
              <a:t> </a:t>
            </a:r>
            <a:r>
              <a:rPr lang="en" sz="1800" i="1">
                <a:solidFill>
                  <a:srgbClr val="333333"/>
                </a:solidFill>
                <a:highlight>
                  <a:srgbClr val="FFFFFF"/>
                </a:highlight>
                <a:latin typeface="Times New Roman"/>
                <a:ea typeface="Times New Roman"/>
                <a:cs typeface="Times New Roman"/>
                <a:sym typeface="Times New Roman"/>
              </a:rPr>
              <a:t>et al</a:t>
            </a:r>
            <a:r>
              <a:rPr lang="en" sz="1800">
                <a:solidFill>
                  <a:srgbClr val="333333"/>
                </a:solidFill>
                <a:highlight>
                  <a:srgbClr val="FFFFFF"/>
                </a:highlight>
                <a:latin typeface="Times New Roman"/>
                <a:ea typeface="Times New Roman"/>
                <a:cs typeface="Times New Roman"/>
                <a:sym typeface="Times New Roman"/>
              </a:rPr>
              <a:t>., 2000</a:t>
            </a:r>
            <a:endParaRPr sz="1800">
              <a:solidFill>
                <a:schemeClr val="dk1"/>
              </a:solidFill>
            </a:endParaRPr>
          </a:p>
          <a:p>
            <a:pPr marL="457200" lvl="0" indent="0" algn="l" rtl="0">
              <a:spcBef>
                <a:spcPts val="0"/>
              </a:spcBef>
              <a:spcAft>
                <a:spcPts val="0"/>
              </a:spcAft>
              <a:buNone/>
            </a:pPr>
            <a:endParaRPr sz="2000">
              <a:solidFill>
                <a:schemeClr val="dk1"/>
              </a:solidFill>
            </a:endParaRPr>
          </a:p>
          <a:p>
            <a:pPr marL="457200" lvl="0" indent="0" algn="l" rtl="0">
              <a:spcBef>
                <a:spcPts val="0"/>
              </a:spcBef>
              <a:spcAft>
                <a:spcPts val="0"/>
              </a:spcAft>
              <a:buNone/>
            </a:pPr>
            <a:endParaRPr sz="2000"/>
          </a:p>
          <a:p>
            <a:pPr marL="457200" lvl="0" indent="0" algn="l" rtl="0">
              <a:spcBef>
                <a:spcPts val="0"/>
              </a:spcBef>
              <a:spcAft>
                <a:spcPts val="0"/>
              </a:spcAft>
              <a:buNone/>
            </a:pPr>
            <a:r>
              <a:rPr lang="en" sz="2000"/>
              <a:t> </a:t>
            </a:r>
            <a:endParaRPr sz="2000"/>
          </a:p>
          <a:p>
            <a:pPr marL="457200" lvl="0" indent="457200" algn="l" rtl="0">
              <a:spcBef>
                <a:spcPts val="0"/>
              </a:spcBef>
              <a:spcAft>
                <a:spcPts val="0"/>
              </a:spcAft>
              <a:buNone/>
            </a:pPr>
            <a:r>
              <a:rPr lang="en" sz="2000"/>
              <a:t>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7300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Introduction </a:t>
            </a:r>
            <a:endParaRPr sz="2600"/>
          </a:p>
        </p:txBody>
      </p:sp>
      <p:sp>
        <p:nvSpPr>
          <p:cNvPr id="86" name="Google Shape;86;p17"/>
          <p:cNvSpPr txBox="1">
            <a:spLocks noGrp="1"/>
          </p:cNvSpPr>
          <p:nvPr>
            <p:ph type="body" idx="1"/>
          </p:nvPr>
        </p:nvSpPr>
        <p:spPr>
          <a:xfrm>
            <a:off x="311700" y="1449925"/>
            <a:ext cx="8520600" cy="36450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In this project, </a:t>
            </a:r>
            <a:r>
              <a:rPr lang="en" sz="2000">
                <a:solidFill>
                  <a:schemeClr val="dk1"/>
                </a:solidFill>
              </a:rPr>
              <a:t>GEANT4 and COMSOL were used to run a basic simulation of X-ray interaction with a single cell semiconductor sensor.</a:t>
            </a:r>
            <a:endParaRPr sz="2000">
              <a:solidFill>
                <a:schemeClr val="dk1"/>
              </a:solidFill>
            </a:endParaRPr>
          </a:p>
          <a:p>
            <a:pPr marL="457200" lvl="0" indent="0" algn="l" rtl="0">
              <a:spcBef>
                <a:spcPts val="0"/>
              </a:spcBef>
              <a:spcAft>
                <a:spcPts val="0"/>
              </a:spcAft>
              <a:buNone/>
            </a:pP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CAD was used to assist in creating the model.</a:t>
            </a:r>
            <a:endParaRPr sz="2000">
              <a:solidFill>
                <a:schemeClr val="dk1"/>
              </a:solidFill>
            </a:endParaRPr>
          </a:p>
          <a:p>
            <a:pPr marL="457200" lvl="0" indent="0" algn="l" rtl="0">
              <a:spcBef>
                <a:spcPts val="0"/>
              </a:spcBef>
              <a:spcAft>
                <a:spcPts val="0"/>
              </a:spcAft>
              <a:buNone/>
            </a:pP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Also, existing open source GEANT4 applications were used  with the GEANT4 simulation with the single pixel sensor.</a:t>
            </a:r>
            <a:endParaRPr sz="2000">
              <a:solidFill>
                <a:schemeClr val="dk1"/>
              </a:solidFill>
            </a:endParaRPr>
          </a:p>
          <a:p>
            <a:pPr marL="0" lvl="0" indent="0" algn="l" rtl="0">
              <a:spcBef>
                <a:spcPts val="0"/>
              </a:spcBef>
              <a:spcAft>
                <a:spcPts val="0"/>
              </a:spcAft>
              <a:buNone/>
            </a:pPr>
            <a:endParaRPr sz="2000">
              <a:solidFill>
                <a:schemeClr val="dk1"/>
              </a:solidFill>
            </a:endParaRPr>
          </a:p>
          <a:p>
            <a:pPr marL="457200" lvl="0" indent="0" algn="l" rtl="0">
              <a:spcBef>
                <a:spcPts val="0"/>
              </a:spcBef>
              <a:spcAft>
                <a:spcPts val="0"/>
              </a:spcAft>
              <a:buNone/>
            </a:pPr>
            <a:endParaRPr sz="2000"/>
          </a:p>
          <a:p>
            <a:pPr marL="457200" lvl="0" indent="0" algn="l" rtl="0">
              <a:spcBef>
                <a:spcPts val="0"/>
              </a:spcBef>
              <a:spcAft>
                <a:spcPts val="0"/>
              </a:spcAft>
              <a:buNone/>
            </a:pPr>
            <a:endParaRPr sz="2000"/>
          </a:p>
          <a:p>
            <a:pPr marL="457200" lvl="0" indent="0" algn="l" rtl="0">
              <a:spcBef>
                <a:spcPts val="0"/>
              </a:spcBef>
              <a:spcAft>
                <a:spcPts val="0"/>
              </a:spcAft>
              <a:buNone/>
            </a:pPr>
            <a:endParaRPr sz="2000">
              <a:solidFill>
                <a:schemeClr val="dk1"/>
              </a:solidFill>
            </a:endParaRPr>
          </a:p>
          <a:p>
            <a:pPr marL="457200" lvl="0" indent="0" algn="l" rtl="0">
              <a:spcBef>
                <a:spcPts val="0"/>
              </a:spcBef>
              <a:spcAft>
                <a:spcPts val="0"/>
              </a:spcAft>
              <a:buNone/>
            </a:pPr>
            <a:endParaRPr sz="2000"/>
          </a:p>
          <a:p>
            <a:pPr marL="457200" lvl="0" indent="0" algn="l" rtl="0">
              <a:spcBef>
                <a:spcPts val="0"/>
              </a:spcBef>
              <a:spcAft>
                <a:spcPts val="0"/>
              </a:spcAft>
              <a:buNone/>
            </a:pPr>
            <a:r>
              <a:rPr lang="en" sz="2000"/>
              <a:t> </a:t>
            </a:r>
            <a:endParaRPr sz="2000"/>
          </a:p>
          <a:p>
            <a:pPr marL="457200" lvl="0" indent="457200" algn="l" rtl="0">
              <a:spcBef>
                <a:spcPts val="0"/>
              </a:spcBef>
              <a:spcAft>
                <a:spcPts val="0"/>
              </a:spcAft>
              <a:buNone/>
            </a:pPr>
            <a:r>
              <a:rPr lang="en" sz="2000"/>
              <a:t>												</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311700" y="7300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Introduction </a:t>
            </a:r>
            <a:endParaRPr sz="2600"/>
          </a:p>
        </p:txBody>
      </p:sp>
      <p:sp>
        <p:nvSpPr>
          <p:cNvPr id="92" name="Google Shape;92;p18"/>
          <p:cNvSpPr txBox="1">
            <a:spLocks noGrp="1"/>
          </p:cNvSpPr>
          <p:nvPr>
            <p:ph type="body" idx="1"/>
          </p:nvPr>
        </p:nvSpPr>
        <p:spPr>
          <a:xfrm>
            <a:off x="311700" y="1449925"/>
            <a:ext cx="8520600" cy="3416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000"/>
              <a:t>COMSOL is a cross-platform finite element analysis, solver and multiphysics simulation software. It allows conventional physics-based user interfaces and coupled systems of partial differential equations.</a:t>
            </a:r>
            <a:endParaRPr sz="2000"/>
          </a:p>
          <a:p>
            <a:pPr marL="457200" lvl="0" indent="0" algn="l" rtl="0">
              <a:spcBef>
                <a:spcPts val="0"/>
              </a:spcBef>
              <a:spcAft>
                <a:spcPts val="0"/>
              </a:spcAft>
              <a:buNone/>
            </a:pPr>
            <a:r>
              <a:rPr lang="en" sz="2000"/>
              <a:t> </a:t>
            </a:r>
            <a:endParaRPr sz="2000"/>
          </a:p>
          <a:p>
            <a:pPr marL="457200" lvl="0" indent="-355600" algn="l" rtl="0">
              <a:spcBef>
                <a:spcPts val="0"/>
              </a:spcBef>
              <a:spcAft>
                <a:spcPts val="0"/>
              </a:spcAft>
              <a:buSzPts val="2000"/>
              <a:buChar char="●"/>
            </a:pPr>
            <a:r>
              <a:rPr lang="en" sz="2000"/>
              <a:t>Running basic physics simulations with a rudimentary model. These basic simulations will eventually be scaled up as the project progresses.​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7300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Introduction </a:t>
            </a:r>
            <a:endParaRPr sz="2600"/>
          </a:p>
        </p:txBody>
      </p:sp>
      <p:sp>
        <p:nvSpPr>
          <p:cNvPr id="98" name="Google Shape;98;p19"/>
          <p:cNvSpPr txBox="1">
            <a:spLocks noGrp="1"/>
          </p:cNvSpPr>
          <p:nvPr>
            <p:ph type="body" idx="1"/>
          </p:nvPr>
        </p:nvSpPr>
        <p:spPr>
          <a:xfrm>
            <a:off x="311700" y="1449925"/>
            <a:ext cx="8520600" cy="3416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 sz="2000">
                <a:solidFill>
                  <a:schemeClr val="dk1"/>
                </a:solidFill>
              </a:rPr>
              <a:t>GEANT4 is a platform for the simulation of the passage of particles through matter using </a:t>
            </a:r>
            <a:r>
              <a:rPr lang="en" sz="2000">
                <a:solidFill>
                  <a:schemeClr val="dk1"/>
                </a:solidFill>
                <a:uFill>
                  <a:noFill/>
                </a:uFill>
                <a:hlinkClick r:id="rId3">
                  <a:extLst>
                    <a:ext uri="{A12FA001-AC4F-418D-AE19-62706E023703}">
                      <ahyp:hlinkClr xmlns:ahyp="http://schemas.microsoft.com/office/drawing/2018/hyperlinkcolor" val="tx"/>
                    </a:ext>
                  </a:extLst>
                </a:hlinkClick>
              </a:rPr>
              <a:t>Monte Carlo methods</a:t>
            </a:r>
            <a:r>
              <a:rPr lang="en" sz="2000">
                <a:solidFill>
                  <a:schemeClr val="dk1"/>
                </a:solidFill>
              </a:rPr>
              <a:t>. </a:t>
            </a:r>
            <a:endParaRPr sz="2000">
              <a:solidFill>
                <a:schemeClr val="dk1"/>
              </a:solidFill>
            </a:endParaRPr>
          </a:p>
          <a:p>
            <a:pPr marL="457200" lvl="0" indent="0" algn="l" rtl="0">
              <a:spcBef>
                <a:spcPts val="0"/>
              </a:spcBef>
              <a:spcAft>
                <a:spcPts val="0"/>
              </a:spcAft>
              <a:buNone/>
            </a:pP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CCD Pixel models are 4096 by 4096 pixel, if we try to do that for this project, it will take a considerable amount of time to run a single simulation and that will not be a good idea. The goal of this project is not really to complete an entire simulation but to show a proof of concept on how GEANT4 and COMSOL work.</a:t>
            </a:r>
            <a:endParaRPr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66810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rPr>
              <a:t>GEANT4 - TestEm4 Example</a:t>
            </a:r>
            <a:endParaRPr/>
          </a:p>
        </p:txBody>
      </p:sp>
      <p:sp>
        <p:nvSpPr>
          <p:cNvPr id="110" name="Google Shape;110;p21"/>
          <p:cNvSpPr txBox="1">
            <a:spLocks noGrp="1"/>
          </p:cNvSpPr>
          <p:nvPr>
            <p:ph type="body" idx="1"/>
          </p:nvPr>
        </p:nvSpPr>
        <p:spPr>
          <a:xfrm>
            <a:off x="311700" y="1152475"/>
            <a:ext cx="4260300" cy="34164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SzPts val="1400"/>
              <a:buChar char="●"/>
            </a:pPr>
            <a:r>
              <a:rPr lang="en"/>
              <a:t>TestEm4 is a built-in example, allows for the simulation of gamma rays with a detector.</a:t>
            </a:r>
            <a:endParaRPr/>
          </a:p>
          <a:p>
            <a:pPr marL="457200" lvl="0" indent="-317500" algn="l" rtl="0">
              <a:spcBef>
                <a:spcPts val="0"/>
              </a:spcBef>
              <a:spcAft>
                <a:spcPts val="0"/>
              </a:spcAft>
              <a:buSzPts val="1400"/>
              <a:buChar char="●"/>
            </a:pPr>
            <a:r>
              <a:rPr lang="en"/>
              <a:t>Requires the detector to be defined in C++, which is more difficult to use than a text-defined geometry.</a:t>
            </a:r>
            <a:endParaRPr/>
          </a:p>
          <a:p>
            <a:pPr marL="457200" lvl="0" indent="-317500" algn="l" rtl="0">
              <a:spcBef>
                <a:spcPts val="0"/>
              </a:spcBef>
              <a:spcAft>
                <a:spcPts val="0"/>
              </a:spcAft>
              <a:buSzPts val="1400"/>
              <a:buChar char="●"/>
            </a:pPr>
            <a:r>
              <a:rPr lang="en"/>
              <a:t>Tests were run with a 4in x 4in x 0.1in silicon detector plate.</a:t>
            </a:r>
            <a:endParaRPr/>
          </a:p>
          <a:p>
            <a:pPr marL="457200" lvl="0" indent="-317500" algn="l" rtl="0">
              <a:spcBef>
                <a:spcPts val="0"/>
              </a:spcBef>
              <a:spcAft>
                <a:spcPts val="0"/>
              </a:spcAft>
              <a:buSzPts val="1400"/>
              <a:buChar char="●"/>
            </a:pPr>
            <a:r>
              <a:rPr lang="en"/>
              <a:t>The detector construction consists of an 8000 cubic meter cube of air containing the detector plate.</a:t>
            </a:r>
            <a:endParaRPr/>
          </a:p>
          <a:p>
            <a:pPr marL="457200" lvl="0" indent="-317500" algn="l" rtl="0">
              <a:spcBef>
                <a:spcPts val="0"/>
              </a:spcBef>
              <a:spcAft>
                <a:spcPts val="0"/>
              </a:spcAft>
              <a:buSzPts val="1400"/>
              <a:buChar char="●"/>
            </a:pPr>
            <a:r>
              <a:rPr lang="en"/>
              <a:t>Point source of 100 keV gammas only emits in all directions, not as a focused beam towards the detector.</a:t>
            </a:r>
            <a:endParaRPr/>
          </a:p>
        </p:txBody>
      </p:sp>
      <p:pic>
        <p:nvPicPr>
          <p:cNvPr id="111" name="Google Shape;111;p21"/>
          <p:cNvPicPr preferRelativeResize="0"/>
          <p:nvPr/>
        </p:nvPicPr>
        <p:blipFill>
          <a:blip r:embed="rId3">
            <a:alphaModFix/>
          </a:blip>
          <a:stretch>
            <a:fillRect/>
          </a:stretch>
        </p:blipFill>
        <p:spPr>
          <a:xfrm>
            <a:off x="4770600" y="1877213"/>
            <a:ext cx="4267203" cy="19669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66810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rPr>
              <a:t>GEANT4 - GEARS Open Source Application</a:t>
            </a:r>
            <a:endParaRPr/>
          </a:p>
        </p:txBody>
      </p:sp>
      <p:sp>
        <p:nvSpPr>
          <p:cNvPr id="117" name="Google Shape;117;p22"/>
          <p:cNvSpPr txBox="1">
            <a:spLocks noGrp="1"/>
          </p:cNvSpPr>
          <p:nvPr>
            <p:ph type="body" idx="1"/>
          </p:nvPr>
        </p:nvSpPr>
        <p:spPr>
          <a:xfrm>
            <a:off x="311700" y="1152475"/>
            <a:ext cx="4260300" cy="34164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SzPts val="1400"/>
              <a:buChar char="●"/>
            </a:pPr>
            <a:r>
              <a:rPr lang="en"/>
              <a:t>GEARS is a compact, fully featured open-source GEANT4 application developed by Dr. Jing Liu of the University of South Dakota.</a:t>
            </a:r>
            <a:endParaRPr/>
          </a:p>
          <a:p>
            <a:pPr marL="457200" lvl="0" indent="-317500" algn="l" rtl="0">
              <a:spcBef>
                <a:spcPts val="0"/>
              </a:spcBef>
              <a:spcAft>
                <a:spcPts val="0"/>
              </a:spcAft>
              <a:buSzPts val="1400"/>
              <a:buChar char="●"/>
            </a:pPr>
            <a:r>
              <a:rPr lang="en"/>
              <a:t>GEARS allows for the importation of geometries, no recompilation necessary.</a:t>
            </a:r>
            <a:endParaRPr/>
          </a:p>
          <a:p>
            <a:pPr marL="457200" lvl="0" indent="-317500" algn="l" rtl="0">
              <a:spcBef>
                <a:spcPts val="0"/>
              </a:spcBef>
              <a:spcAft>
                <a:spcPts val="0"/>
              </a:spcAft>
              <a:buSzPts val="1400"/>
              <a:buChar char="●"/>
            </a:pPr>
            <a:r>
              <a:rPr lang="en"/>
              <a:t>Gammas are low energy (100 keV) from a point source.</a:t>
            </a:r>
            <a:endParaRPr/>
          </a:p>
          <a:p>
            <a:pPr marL="457200" lvl="0" indent="-317500" algn="l" rtl="0">
              <a:spcBef>
                <a:spcPts val="0"/>
              </a:spcBef>
              <a:spcAft>
                <a:spcPts val="0"/>
              </a:spcAft>
              <a:buSzPts val="1400"/>
              <a:buChar char="●"/>
            </a:pPr>
            <a:r>
              <a:rPr lang="en"/>
              <a:t>Results can be output to ROOT for analysis.</a:t>
            </a:r>
            <a:endParaRPr/>
          </a:p>
          <a:p>
            <a:pPr marL="457200" lvl="0" indent="-317500" algn="l" rtl="0">
              <a:spcBef>
                <a:spcPts val="0"/>
              </a:spcBef>
              <a:spcAft>
                <a:spcPts val="0"/>
              </a:spcAft>
              <a:buSzPts val="1400"/>
              <a:buChar char="●"/>
            </a:pPr>
            <a:r>
              <a:rPr lang="en"/>
              <a:t>Disabling visualization allows for faster simulations.</a:t>
            </a:r>
            <a:endParaRPr/>
          </a:p>
          <a:p>
            <a:pPr marL="457200" lvl="0" indent="-317500" algn="l" rtl="0">
              <a:spcBef>
                <a:spcPts val="0"/>
              </a:spcBef>
              <a:spcAft>
                <a:spcPts val="0"/>
              </a:spcAft>
              <a:buSzPts val="1400"/>
              <a:buChar char="●"/>
            </a:pPr>
            <a:r>
              <a:rPr lang="en"/>
              <a:t>Geometries were defined in ASCII .tg files and imported, allowing for quick changes. </a:t>
            </a:r>
            <a:endParaRPr/>
          </a:p>
          <a:p>
            <a:pPr marL="457200" lvl="0" indent="-317500" algn="l" rtl="0">
              <a:spcBef>
                <a:spcPts val="0"/>
              </a:spcBef>
              <a:spcAft>
                <a:spcPts val="0"/>
              </a:spcAft>
              <a:buSzPts val="1400"/>
              <a:buChar char="●"/>
            </a:pPr>
            <a:r>
              <a:rPr lang="en"/>
              <a:t>50,000 events can be run within seconds.</a:t>
            </a:r>
            <a:endParaRPr/>
          </a:p>
        </p:txBody>
      </p:sp>
      <p:pic>
        <p:nvPicPr>
          <p:cNvPr id="118" name="Google Shape;118;p22"/>
          <p:cNvPicPr preferRelativeResize="0"/>
          <p:nvPr/>
        </p:nvPicPr>
        <p:blipFill rotWithShape="1">
          <a:blip r:embed="rId3">
            <a:alphaModFix/>
          </a:blip>
          <a:srcRect l="21773" r="10013"/>
          <a:stretch/>
        </p:blipFill>
        <p:spPr>
          <a:xfrm>
            <a:off x="5889700" y="1323025"/>
            <a:ext cx="2368742" cy="1600774"/>
          </a:xfrm>
          <a:prstGeom prst="rect">
            <a:avLst/>
          </a:prstGeom>
          <a:noFill/>
          <a:ln>
            <a:noFill/>
          </a:ln>
        </p:spPr>
      </p:pic>
      <p:pic>
        <p:nvPicPr>
          <p:cNvPr id="119" name="Google Shape;119;p22"/>
          <p:cNvPicPr preferRelativeResize="0"/>
          <p:nvPr/>
        </p:nvPicPr>
        <p:blipFill>
          <a:blip r:embed="rId4">
            <a:alphaModFix/>
          </a:blip>
          <a:stretch>
            <a:fillRect/>
          </a:stretch>
        </p:blipFill>
        <p:spPr>
          <a:xfrm>
            <a:off x="5900375" y="3073650"/>
            <a:ext cx="2347376" cy="1600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700" y="66860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rPr>
              <a:t>Comsol Simulation Purpose</a:t>
            </a:r>
            <a:endParaRPr/>
          </a:p>
        </p:txBody>
      </p:sp>
      <p:sp>
        <p:nvSpPr>
          <p:cNvPr id="125" name="Google Shape;125;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lnSpc>
                <a:spcPct val="90000"/>
              </a:lnSpc>
              <a:spcBef>
                <a:spcPts val="1000"/>
              </a:spcBef>
              <a:spcAft>
                <a:spcPts val="0"/>
              </a:spcAft>
              <a:buClr>
                <a:schemeClr val="dk1"/>
              </a:buClr>
              <a:buSzPts val="1100"/>
              <a:buFont typeface="Arial"/>
              <a:buNone/>
            </a:pPr>
            <a:r>
              <a:rPr lang="en" sz="2800">
                <a:solidFill>
                  <a:schemeClr val="dk1"/>
                </a:solidFill>
              </a:rPr>
              <a:t>•</a:t>
            </a:r>
            <a:r>
              <a:rPr lang="en" sz="2000">
                <a:solidFill>
                  <a:schemeClr val="dk1"/>
                </a:solidFill>
              </a:rPr>
              <a:t>The purpose of using comsol was to obtain a better understanding of how x-rays would affect a simple pixel design.</a:t>
            </a:r>
            <a:endParaRPr sz="2000">
              <a:solidFill>
                <a:schemeClr val="dk1"/>
              </a:solidFill>
            </a:endParaRPr>
          </a:p>
          <a:p>
            <a:pPr marL="0" lvl="0" indent="0" algn="l" rtl="0">
              <a:lnSpc>
                <a:spcPct val="90000"/>
              </a:lnSpc>
              <a:spcBef>
                <a:spcPts val="1000"/>
              </a:spcBef>
              <a:spcAft>
                <a:spcPts val="0"/>
              </a:spcAft>
              <a:buClr>
                <a:schemeClr val="dk1"/>
              </a:buClr>
              <a:buSzPts val="1100"/>
              <a:buFont typeface="Arial"/>
              <a:buNone/>
            </a:pPr>
            <a:endParaRPr sz="2000">
              <a:solidFill>
                <a:schemeClr val="dk1"/>
              </a:solidFill>
            </a:endParaRPr>
          </a:p>
          <a:p>
            <a:pPr marL="0" lvl="0" indent="0" algn="l" rtl="0">
              <a:lnSpc>
                <a:spcPct val="90000"/>
              </a:lnSpc>
              <a:spcBef>
                <a:spcPts val="1000"/>
              </a:spcBef>
              <a:spcAft>
                <a:spcPts val="0"/>
              </a:spcAft>
              <a:buClr>
                <a:schemeClr val="dk1"/>
              </a:buClr>
              <a:buSzPts val="1100"/>
              <a:buFont typeface="Arial"/>
              <a:buNone/>
            </a:pPr>
            <a:r>
              <a:rPr lang="en" sz="2000">
                <a:solidFill>
                  <a:schemeClr val="dk1"/>
                </a:solidFill>
              </a:rPr>
              <a:t>•This was done coupling both the semiconductor and electromagnetics wave frequency domain modules. This coupling is often used for simulating optoelectronic devices such as solar cells and photodiodes.</a:t>
            </a:r>
            <a:endParaRPr sz="2000">
              <a:solidFill>
                <a:schemeClr val="dk1"/>
              </a:solidFill>
            </a:endParaRPr>
          </a:p>
          <a:p>
            <a:pPr marL="0" lvl="0" indent="0" algn="l" rtl="0">
              <a:spcBef>
                <a:spcPts val="0"/>
              </a:spcBef>
              <a:spcAft>
                <a:spcPts val="0"/>
              </a:spcAft>
              <a:buNone/>
            </a:pP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11700" y="67620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Comsol Parameters</a:t>
            </a:r>
            <a:endParaRPr sz="2000"/>
          </a:p>
        </p:txBody>
      </p:sp>
      <p:sp>
        <p:nvSpPr>
          <p:cNvPr id="131" name="Google Shape;131;p24"/>
          <p:cNvSpPr txBox="1">
            <a:spLocks noGrp="1"/>
          </p:cNvSpPr>
          <p:nvPr>
            <p:ph type="body" idx="1"/>
          </p:nvPr>
        </p:nvSpPr>
        <p:spPr>
          <a:xfrm>
            <a:off x="311700" y="1173900"/>
            <a:ext cx="8520600" cy="3416400"/>
          </a:xfrm>
          <a:prstGeom prst="rect">
            <a:avLst/>
          </a:prstGeom>
        </p:spPr>
        <p:txBody>
          <a:bodyPr spcFirstLastPara="1" wrap="square" lIns="91425" tIns="91425" rIns="91425" bIns="91425" anchor="ctr" anchorCtr="0">
            <a:noAutofit/>
          </a:bodyPr>
          <a:lstStyle/>
          <a:p>
            <a:pPr marL="0" lvl="0" indent="0" algn="l" rtl="0">
              <a:lnSpc>
                <a:spcPct val="90000"/>
              </a:lnSpc>
              <a:spcBef>
                <a:spcPts val="1000"/>
              </a:spcBef>
              <a:spcAft>
                <a:spcPts val="0"/>
              </a:spcAft>
              <a:buClr>
                <a:schemeClr val="dk1"/>
              </a:buClr>
              <a:buSzPts val="1100"/>
              <a:buFont typeface="Arial"/>
              <a:buNone/>
            </a:pPr>
            <a:r>
              <a:rPr lang="en" sz="2800">
                <a:solidFill>
                  <a:schemeClr val="dk1"/>
                </a:solidFill>
              </a:rPr>
              <a:t>•</a:t>
            </a:r>
            <a:r>
              <a:rPr lang="en" sz="2000">
                <a:solidFill>
                  <a:schemeClr val="dk1"/>
                </a:solidFill>
              </a:rPr>
              <a:t>For comsol simulations, a simplified version of a pixel was used.</a:t>
            </a:r>
            <a:endParaRPr sz="2000">
              <a:solidFill>
                <a:schemeClr val="dk1"/>
              </a:solidFill>
            </a:endParaRPr>
          </a:p>
          <a:p>
            <a:pPr marL="0" lvl="0" indent="0" algn="l" rtl="0">
              <a:lnSpc>
                <a:spcPct val="90000"/>
              </a:lnSpc>
              <a:spcBef>
                <a:spcPts val="1000"/>
              </a:spcBef>
              <a:spcAft>
                <a:spcPts val="0"/>
              </a:spcAft>
              <a:buClr>
                <a:schemeClr val="dk1"/>
              </a:buClr>
              <a:buSzPts val="1100"/>
              <a:buFont typeface="Arial"/>
              <a:buNone/>
            </a:pPr>
            <a:r>
              <a:rPr lang="en" sz="2000">
                <a:solidFill>
                  <a:schemeClr val="dk1"/>
                </a:solidFill>
              </a:rPr>
              <a:t>•The whole pixel has a background p-type doping of 1x10^14 cm^-3 (number of atoms per cubic centimeter) with 1x10^18 cm^-3  n-type doping defused on the top left of the model.</a:t>
            </a:r>
            <a:endParaRPr sz="2000">
              <a:solidFill>
                <a:schemeClr val="dk1"/>
              </a:solidFill>
            </a:endParaRPr>
          </a:p>
          <a:p>
            <a:pPr marL="0" lvl="0" indent="0" algn="l" rtl="0">
              <a:lnSpc>
                <a:spcPct val="90000"/>
              </a:lnSpc>
              <a:spcBef>
                <a:spcPts val="1000"/>
              </a:spcBef>
              <a:spcAft>
                <a:spcPts val="0"/>
              </a:spcAft>
              <a:buClr>
                <a:schemeClr val="dk1"/>
              </a:buClr>
              <a:buSzPts val="1100"/>
              <a:buFont typeface="Arial"/>
              <a:buNone/>
            </a:pPr>
            <a:r>
              <a:rPr lang="en" sz="2000">
                <a:solidFill>
                  <a:schemeClr val="dk1"/>
                </a:solidFill>
              </a:rPr>
              <a:t>•Two volts were applied to the p-region and a ground was connected to the n-region.</a:t>
            </a:r>
            <a:endParaRPr sz="2000">
              <a:solidFill>
                <a:schemeClr val="dk1"/>
              </a:solidFill>
            </a:endParaRPr>
          </a:p>
          <a:p>
            <a:pPr marL="0" lvl="0" indent="0" algn="l" rtl="0">
              <a:lnSpc>
                <a:spcPct val="90000"/>
              </a:lnSpc>
              <a:spcBef>
                <a:spcPts val="1000"/>
              </a:spcBef>
              <a:spcAft>
                <a:spcPts val="0"/>
              </a:spcAft>
              <a:buClr>
                <a:schemeClr val="dk1"/>
              </a:buClr>
              <a:buSzPts val="1100"/>
              <a:buFont typeface="Arial"/>
              <a:buNone/>
            </a:pPr>
            <a:r>
              <a:rPr lang="en" sz="2000">
                <a:solidFill>
                  <a:schemeClr val="dk1"/>
                </a:solidFill>
              </a:rPr>
              <a:t>•The intensity of the incident radiation was at a constant 10 Watts.</a:t>
            </a:r>
            <a:endParaRPr sz="2000">
              <a:solidFill>
                <a:schemeClr val="dk1"/>
              </a:solidFill>
            </a:endParaRPr>
          </a:p>
          <a:p>
            <a:pPr marL="0" lvl="0" indent="0" algn="l" rtl="0">
              <a:spcBef>
                <a:spcPts val="0"/>
              </a:spcBef>
              <a:spcAft>
                <a:spcPts val="0"/>
              </a:spcAft>
              <a:buNone/>
            </a:pP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a:off x="311700" y="6914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Comsol Results</a:t>
            </a:r>
            <a:endParaRPr sz="2000"/>
          </a:p>
        </p:txBody>
      </p:sp>
      <p:sp>
        <p:nvSpPr>
          <p:cNvPr id="137" name="Google Shape;137;p25"/>
          <p:cNvSpPr txBox="1">
            <a:spLocks noGrp="1"/>
          </p:cNvSpPr>
          <p:nvPr>
            <p:ph type="body" idx="1"/>
          </p:nvPr>
        </p:nvSpPr>
        <p:spPr>
          <a:xfrm>
            <a:off x="311688" y="205500"/>
            <a:ext cx="8520600" cy="3416400"/>
          </a:xfrm>
          <a:prstGeom prst="rect">
            <a:avLst/>
          </a:prstGeom>
        </p:spPr>
        <p:txBody>
          <a:bodyPr spcFirstLastPara="1" wrap="square" lIns="91425" tIns="91425" rIns="91425" bIns="91425" anchor="ctr" anchorCtr="0">
            <a:noAutofit/>
          </a:bodyPr>
          <a:lstStyle/>
          <a:p>
            <a:pPr marL="0" lvl="0" indent="0" algn="l" rtl="0">
              <a:lnSpc>
                <a:spcPct val="90000"/>
              </a:lnSpc>
              <a:spcBef>
                <a:spcPts val="1000"/>
              </a:spcBef>
              <a:spcAft>
                <a:spcPts val="0"/>
              </a:spcAft>
              <a:buClr>
                <a:schemeClr val="dk1"/>
              </a:buClr>
              <a:buSzPts val="1100"/>
              <a:buFont typeface="Arial"/>
              <a:buNone/>
            </a:pPr>
            <a:r>
              <a:rPr lang="en" sz="2800">
                <a:solidFill>
                  <a:schemeClr val="dk1"/>
                </a:solidFill>
              </a:rPr>
              <a:t>•</a:t>
            </a:r>
            <a:r>
              <a:rPr lang="en" sz="2000">
                <a:solidFill>
                  <a:schemeClr val="dk1"/>
                </a:solidFill>
              </a:rPr>
              <a:t>The doping profile is shown below. The arrows show the direction of incident radiation The blue region is p-doped and the red region is n-doped. With this setup we are essentially simulating a forward biased PN junction.</a:t>
            </a:r>
            <a:endParaRPr sz="2000">
              <a:solidFill>
                <a:schemeClr val="dk1"/>
              </a:solidFill>
            </a:endParaRPr>
          </a:p>
          <a:p>
            <a:pPr marL="0" lvl="0" indent="0" algn="l" rtl="0">
              <a:spcBef>
                <a:spcPts val="0"/>
              </a:spcBef>
              <a:spcAft>
                <a:spcPts val="0"/>
              </a:spcAft>
              <a:buNone/>
            </a:pPr>
            <a:endParaRPr sz="2000"/>
          </a:p>
        </p:txBody>
      </p:sp>
      <p:pic>
        <p:nvPicPr>
          <p:cNvPr id="138" name="Google Shape;138;p25"/>
          <p:cNvPicPr preferRelativeResize="0"/>
          <p:nvPr/>
        </p:nvPicPr>
        <p:blipFill>
          <a:blip r:embed="rId3">
            <a:alphaModFix/>
          </a:blip>
          <a:stretch>
            <a:fillRect/>
          </a:stretch>
        </p:blipFill>
        <p:spPr>
          <a:xfrm>
            <a:off x="1273375" y="2499025"/>
            <a:ext cx="6597251" cy="2644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txBox="1">
            <a:spLocks noGrp="1"/>
          </p:cNvSpPr>
          <p:nvPr>
            <p:ph type="title"/>
          </p:nvPr>
        </p:nvSpPr>
        <p:spPr>
          <a:xfrm>
            <a:off x="311700" y="6914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Comsol Results Continued</a:t>
            </a:r>
            <a:endParaRPr sz="2000"/>
          </a:p>
        </p:txBody>
      </p:sp>
      <p:sp>
        <p:nvSpPr>
          <p:cNvPr id="144" name="Google Shape;144;p26"/>
          <p:cNvSpPr txBox="1">
            <a:spLocks noGrp="1"/>
          </p:cNvSpPr>
          <p:nvPr>
            <p:ph type="body" idx="1"/>
          </p:nvPr>
        </p:nvSpPr>
        <p:spPr>
          <a:xfrm>
            <a:off x="225975" y="-203600"/>
            <a:ext cx="8520600" cy="3416400"/>
          </a:xfrm>
          <a:prstGeom prst="rect">
            <a:avLst/>
          </a:prstGeom>
        </p:spPr>
        <p:txBody>
          <a:bodyPr spcFirstLastPara="1" wrap="square" lIns="91425" tIns="91425" rIns="91425" bIns="91425" anchor="ctr" anchorCtr="0">
            <a:noAutofit/>
          </a:bodyPr>
          <a:lstStyle/>
          <a:p>
            <a:pPr marL="0" lvl="0" indent="0" algn="l" rtl="0">
              <a:lnSpc>
                <a:spcPct val="90000"/>
              </a:lnSpc>
              <a:spcBef>
                <a:spcPts val="1000"/>
              </a:spcBef>
              <a:spcAft>
                <a:spcPts val="0"/>
              </a:spcAft>
              <a:buClr>
                <a:schemeClr val="dk1"/>
              </a:buClr>
              <a:buSzPts val="1100"/>
              <a:buFont typeface="Arial"/>
              <a:buNone/>
            </a:pPr>
            <a:r>
              <a:rPr lang="en" sz="2800">
                <a:solidFill>
                  <a:schemeClr val="dk1"/>
                </a:solidFill>
              </a:rPr>
              <a:t>•</a:t>
            </a:r>
            <a:r>
              <a:rPr lang="en" sz="2000">
                <a:solidFill>
                  <a:schemeClr val="dk1"/>
                </a:solidFill>
              </a:rPr>
              <a:t>The following graph shows how current across the PN interface varies with the frequency of incident light.</a:t>
            </a:r>
            <a:endParaRPr sz="2000">
              <a:solidFill>
                <a:schemeClr val="dk1"/>
              </a:solidFill>
            </a:endParaRPr>
          </a:p>
          <a:p>
            <a:pPr marL="0" lvl="0" indent="0" algn="l" rtl="0">
              <a:spcBef>
                <a:spcPts val="0"/>
              </a:spcBef>
              <a:spcAft>
                <a:spcPts val="0"/>
              </a:spcAft>
              <a:buNone/>
            </a:pPr>
            <a:endParaRPr/>
          </a:p>
        </p:txBody>
      </p:sp>
      <p:pic>
        <p:nvPicPr>
          <p:cNvPr id="145" name="Google Shape;145;p26"/>
          <p:cNvPicPr preferRelativeResize="0"/>
          <p:nvPr/>
        </p:nvPicPr>
        <p:blipFill>
          <a:blip r:embed="rId3">
            <a:alphaModFix/>
          </a:blip>
          <a:stretch>
            <a:fillRect/>
          </a:stretch>
        </p:blipFill>
        <p:spPr>
          <a:xfrm>
            <a:off x="2105625" y="1855300"/>
            <a:ext cx="4932749" cy="3148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title"/>
          </p:nvPr>
        </p:nvSpPr>
        <p:spPr>
          <a:xfrm>
            <a:off x="311700" y="6557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rPr>
              <a:t>Advantages and Disadvantages</a:t>
            </a:r>
            <a:endParaRPr/>
          </a:p>
        </p:txBody>
      </p:sp>
      <p:sp>
        <p:nvSpPr>
          <p:cNvPr id="151" name="Google Shape;15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For GEANT4:</a:t>
            </a:r>
            <a:endParaRPr sz="2000"/>
          </a:p>
          <a:p>
            <a:pPr marL="457200" lvl="0" indent="-355600" algn="l" rtl="0">
              <a:spcBef>
                <a:spcPts val="0"/>
              </a:spcBef>
              <a:spcAft>
                <a:spcPts val="0"/>
              </a:spcAft>
              <a:buSzPts val="2000"/>
              <a:buChar char="+"/>
            </a:pPr>
            <a:r>
              <a:rPr lang="en" sz="2000"/>
              <a:t>Ability to track particles in many different situations</a:t>
            </a:r>
            <a:endParaRPr sz="2000"/>
          </a:p>
          <a:p>
            <a:pPr marL="457200" lvl="0" indent="-355600" algn="l" rtl="0">
              <a:spcBef>
                <a:spcPts val="0"/>
              </a:spcBef>
              <a:spcAft>
                <a:spcPts val="0"/>
              </a:spcAft>
              <a:buSzPts val="2000"/>
              <a:buChar char="+"/>
            </a:pPr>
            <a:r>
              <a:rPr lang="en" sz="2000"/>
              <a:t>Many open-source GEANT4 applications available</a:t>
            </a:r>
            <a:endParaRPr sz="2000"/>
          </a:p>
          <a:p>
            <a:pPr marL="457200" lvl="0" indent="-355600" algn="l" rtl="0">
              <a:spcBef>
                <a:spcPts val="0"/>
              </a:spcBef>
              <a:spcAft>
                <a:spcPts val="0"/>
              </a:spcAft>
              <a:buSzPts val="2000"/>
              <a:buChar char="-"/>
            </a:pPr>
            <a:r>
              <a:rPr lang="en" sz="2000"/>
              <a:t>Geometries defined in C++ not flexible </a:t>
            </a:r>
            <a:endParaRPr sz="2000"/>
          </a:p>
          <a:p>
            <a:pPr marL="457200" lvl="0" indent="-355600" algn="l" rtl="0">
              <a:spcBef>
                <a:spcPts val="0"/>
              </a:spcBef>
              <a:spcAft>
                <a:spcPts val="0"/>
              </a:spcAft>
              <a:buSzPts val="2000"/>
              <a:buChar char="-"/>
            </a:pPr>
            <a:r>
              <a:rPr lang="en" sz="2000"/>
              <a:t>Very steep learning curve</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 sz="2000"/>
              <a:t>For COMSOL:</a:t>
            </a:r>
            <a:endParaRPr sz="2000"/>
          </a:p>
          <a:p>
            <a:pPr marL="457200" lvl="0" indent="-355600" algn="l" rtl="0">
              <a:spcBef>
                <a:spcPts val="0"/>
              </a:spcBef>
              <a:spcAft>
                <a:spcPts val="0"/>
              </a:spcAft>
              <a:buSzPts val="2000"/>
              <a:buChar char="+"/>
            </a:pPr>
            <a:r>
              <a:rPr lang="en" sz="2000"/>
              <a:t>Relatively easier</a:t>
            </a:r>
            <a:endParaRPr sz="2000"/>
          </a:p>
          <a:p>
            <a:pPr marL="457200" lvl="0" indent="-355600" algn="l" rtl="0">
              <a:spcBef>
                <a:spcPts val="0"/>
              </a:spcBef>
              <a:spcAft>
                <a:spcPts val="0"/>
              </a:spcAft>
              <a:buSzPts val="2000"/>
              <a:buChar char="+"/>
            </a:pPr>
            <a:r>
              <a:rPr lang="en" sz="2000"/>
              <a:t>Showing the equations</a:t>
            </a:r>
            <a:endParaRPr sz="2000"/>
          </a:p>
          <a:p>
            <a:pPr marL="457200" lvl="0" indent="-355600" algn="l" rtl="0">
              <a:spcBef>
                <a:spcPts val="0"/>
              </a:spcBef>
              <a:spcAft>
                <a:spcPts val="0"/>
              </a:spcAft>
              <a:buSzPts val="2000"/>
              <a:buChar char="-"/>
            </a:pPr>
            <a:r>
              <a:rPr lang="en" sz="2000"/>
              <a:t>Advanced</a:t>
            </a:r>
            <a:endParaRPr sz="2000"/>
          </a:p>
          <a:p>
            <a:pPr marL="457200" lvl="0" indent="-355600" algn="l" rtl="0">
              <a:spcBef>
                <a:spcPts val="0"/>
              </a:spcBef>
              <a:spcAft>
                <a:spcPts val="0"/>
              </a:spcAft>
              <a:buSzPts val="2000"/>
              <a:buChar char="-"/>
            </a:pPr>
            <a:r>
              <a:rPr lang="en" sz="2000"/>
              <a:t>Restrictive Licensing </a:t>
            </a:r>
            <a:endParaRPr sz="2000"/>
          </a:p>
          <a:p>
            <a:pPr marL="0" lvl="0" indent="0" algn="l" rtl="0">
              <a:spcBef>
                <a:spcPts val="0"/>
              </a:spcBef>
              <a:spcAft>
                <a:spcPts val="0"/>
              </a:spcAft>
              <a:buNone/>
            </a:pP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8"/>
          <p:cNvSpPr txBox="1">
            <a:spLocks noGrp="1"/>
          </p:cNvSpPr>
          <p:nvPr>
            <p:ph type="title"/>
          </p:nvPr>
        </p:nvSpPr>
        <p:spPr>
          <a:xfrm>
            <a:off x="311700" y="73007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Reference</a:t>
            </a:r>
            <a:endParaRPr sz="2600"/>
          </a:p>
        </p:txBody>
      </p:sp>
      <p:sp>
        <p:nvSpPr>
          <p:cNvPr id="157" name="Google Shape;157;p28"/>
          <p:cNvSpPr txBox="1">
            <a:spLocks noGrp="1"/>
          </p:cNvSpPr>
          <p:nvPr>
            <p:ph type="body" idx="1"/>
          </p:nvPr>
        </p:nvSpPr>
        <p:spPr>
          <a:xfrm>
            <a:off x="311700" y="1449925"/>
            <a:ext cx="8520600" cy="3645000"/>
          </a:xfrm>
          <a:prstGeom prst="rect">
            <a:avLst/>
          </a:prstGeom>
        </p:spPr>
        <p:txBody>
          <a:bodyPr spcFirstLastPara="1" wrap="square" lIns="91425" tIns="91425" rIns="91425" bIns="91425" anchor="t" anchorCtr="0">
            <a:noAutofit/>
          </a:bodyPr>
          <a:lstStyle/>
          <a:p>
            <a:pPr marL="457200" lvl="0" indent="-355600" algn="just" rtl="0">
              <a:lnSpc>
                <a:spcPct val="115000"/>
              </a:lnSpc>
              <a:spcBef>
                <a:spcPts val="1200"/>
              </a:spcBef>
              <a:spcAft>
                <a:spcPts val="0"/>
              </a:spcAft>
              <a:buSzPts val="2000"/>
              <a:buChar char="●"/>
            </a:pPr>
            <a:r>
              <a:rPr lang="en" sz="2000">
                <a:solidFill>
                  <a:schemeClr val="dk1"/>
                </a:solidFill>
              </a:rPr>
              <a:t>[1]  </a:t>
            </a:r>
            <a:r>
              <a:rPr lang="en" sz="2000">
                <a:solidFill>
                  <a:srgbClr val="333333"/>
                </a:solidFill>
                <a:highlight>
                  <a:srgbClr val="FFFFFF"/>
                </a:highlight>
              </a:rPr>
              <a:t>S.K. Ahn  </a:t>
            </a:r>
            <a:r>
              <a:rPr lang="en" sz="2000" i="1">
                <a:solidFill>
                  <a:srgbClr val="333333"/>
                </a:solidFill>
                <a:highlight>
                  <a:srgbClr val="FFFFFF"/>
                </a:highlight>
              </a:rPr>
              <a:t>et al.,</a:t>
            </a:r>
            <a:r>
              <a:rPr lang="en" sz="2000">
                <a:solidFill>
                  <a:srgbClr val="333333"/>
                </a:solidFill>
                <a:highlight>
                  <a:srgbClr val="FFFFFF"/>
                </a:highlight>
              </a:rPr>
              <a:t> "</a:t>
            </a:r>
            <a:r>
              <a:rPr lang="en" sz="2000">
                <a:solidFill>
                  <a:schemeClr val="dk1"/>
                </a:solidFill>
              </a:rPr>
              <a:t> A computer code for the simulation of X-ray imaging systems</a:t>
            </a:r>
            <a:r>
              <a:rPr lang="en" sz="2000">
                <a:solidFill>
                  <a:srgbClr val="333333"/>
                </a:solidFill>
                <a:highlight>
                  <a:srgbClr val="FFFFFF"/>
                </a:highlight>
              </a:rPr>
              <a:t>," 2003 IEEE Nuclear Science Symposium. Conference Record (IEEE Cat. No.03CH37515), Portland, OR, USA, 2003, pp. 641-642 Vol.1.</a:t>
            </a:r>
            <a:endParaRPr sz="2000">
              <a:solidFill>
                <a:srgbClr val="333333"/>
              </a:solidFill>
              <a:highlight>
                <a:srgbClr val="FFFFFF"/>
              </a:highlight>
            </a:endParaRPr>
          </a:p>
          <a:p>
            <a:pPr marL="457200" lvl="0" indent="0" algn="just" rtl="0">
              <a:lnSpc>
                <a:spcPct val="115000"/>
              </a:lnSpc>
              <a:spcBef>
                <a:spcPts val="1200"/>
              </a:spcBef>
              <a:spcAft>
                <a:spcPts val="0"/>
              </a:spcAft>
              <a:buNone/>
            </a:pPr>
            <a:endParaRPr sz="2000">
              <a:solidFill>
                <a:srgbClr val="333333"/>
              </a:solidFill>
              <a:highlight>
                <a:srgbClr val="FFFFFF"/>
              </a:highlight>
            </a:endParaRPr>
          </a:p>
          <a:p>
            <a:pPr marL="457200" lvl="0" indent="-355600" algn="l" rtl="0">
              <a:lnSpc>
                <a:spcPct val="115000"/>
              </a:lnSpc>
              <a:spcBef>
                <a:spcPts val="1200"/>
              </a:spcBef>
              <a:spcAft>
                <a:spcPts val="0"/>
              </a:spcAft>
              <a:buSzPts val="2000"/>
              <a:buChar char="●"/>
            </a:pPr>
            <a:r>
              <a:rPr lang="en" sz="2000">
                <a:solidFill>
                  <a:schemeClr val="dk1"/>
                </a:solidFill>
              </a:rPr>
              <a:t>[2]   M. Rossi, F. Casali, S. V. Golovkin, V. N. Govorun, Digital radiography using an EBCCD based imaging device, Appl. Radiation and Isotopes 53 (2000) 699-709</a:t>
            </a:r>
            <a:endParaRPr sz="2000">
              <a:solidFill>
                <a:schemeClr val="dk1"/>
              </a:solidFill>
            </a:endParaRPr>
          </a:p>
          <a:p>
            <a:pPr marL="457200" lvl="0" indent="0" algn="l" rtl="0">
              <a:spcBef>
                <a:spcPts val="0"/>
              </a:spcBef>
              <a:spcAft>
                <a:spcPts val="0"/>
              </a:spcAft>
              <a:buNone/>
            </a:pPr>
            <a:endParaRPr sz="2000"/>
          </a:p>
          <a:p>
            <a:pPr marL="457200" lvl="0" indent="0" algn="l" rtl="0">
              <a:spcBef>
                <a:spcPts val="0"/>
              </a:spcBef>
              <a:spcAft>
                <a:spcPts val="0"/>
              </a:spcAft>
              <a:buNone/>
            </a:pPr>
            <a:endParaRPr sz="2000">
              <a:solidFill>
                <a:schemeClr val="dk1"/>
              </a:solidFill>
            </a:endParaRPr>
          </a:p>
          <a:p>
            <a:pPr marL="0" lvl="0" indent="0" algn="l" rtl="0">
              <a:spcBef>
                <a:spcPts val="0"/>
              </a:spcBef>
              <a:spcAft>
                <a:spcPts val="0"/>
              </a:spcAft>
              <a:buNone/>
            </a:pPr>
            <a:endParaRPr sz="2000">
              <a:solidFill>
                <a:schemeClr val="dk1"/>
              </a:solidFill>
            </a:endParaRPr>
          </a:p>
          <a:p>
            <a:pPr marL="457200" lvl="0" indent="0" algn="l" rtl="0">
              <a:spcBef>
                <a:spcPts val="0"/>
              </a:spcBef>
              <a:spcAft>
                <a:spcPts val="0"/>
              </a:spcAft>
              <a:buNone/>
            </a:pPr>
            <a:endParaRPr sz="2000"/>
          </a:p>
          <a:p>
            <a:pPr marL="457200" lvl="0" indent="0" algn="l" rtl="0">
              <a:spcBef>
                <a:spcPts val="0"/>
              </a:spcBef>
              <a:spcAft>
                <a:spcPts val="0"/>
              </a:spcAft>
              <a:buNone/>
            </a:pPr>
            <a:endParaRPr sz="2000"/>
          </a:p>
          <a:p>
            <a:pPr marL="457200" lvl="0" indent="0" algn="l" rtl="0">
              <a:spcBef>
                <a:spcPts val="0"/>
              </a:spcBef>
              <a:spcAft>
                <a:spcPts val="0"/>
              </a:spcAft>
              <a:buNone/>
            </a:pPr>
            <a:endParaRPr sz="2000">
              <a:solidFill>
                <a:schemeClr val="dk1"/>
              </a:solidFill>
            </a:endParaRPr>
          </a:p>
          <a:p>
            <a:pPr marL="457200" lvl="0" indent="0" algn="l" rtl="0">
              <a:spcBef>
                <a:spcPts val="0"/>
              </a:spcBef>
              <a:spcAft>
                <a:spcPts val="0"/>
              </a:spcAft>
              <a:buNone/>
            </a:pPr>
            <a:endParaRPr sz="2000"/>
          </a:p>
          <a:p>
            <a:pPr marL="457200" lvl="0" indent="0" algn="l" rtl="0">
              <a:spcBef>
                <a:spcPts val="0"/>
              </a:spcBef>
              <a:spcAft>
                <a:spcPts val="0"/>
              </a:spcAft>
              <a:buNone/>
            </a:pPr>
            <a:r>
              <a:rPr lang="en" sz="2000"/>
              <a:t> </a:t>
            </a:r>
            <a:endParaRPr sz="2000"/>
          </a:p>
          <a:p>
            <a:pPr marL="457200" lvl="0" indent="457200" algn="l" rtl="0">
              <a:spcBef>
                <a:spcPts val="0"/>
              </a:spcBef>
              <a:spcAft>
                <a:spcPts val="0"/>
              </a:spcAft>
              <a:buNone/>
            </a:pPr>
            <a:r>
              <a:rPr lang="en" sz="2000"/>
              <a:t>												</a:t>
            </a:r>
            <a:endParaRPr sz="2000"/>
          </a:p>
        </p:txBody>
      </p:sp>
    </p:spTree>
  </p:cSld>
  <p:clrMapOvr>
    <a:masterClrMapping/>
  </p:clrMapOvr>
</p:sld>
</file>

<file path=ppt/theme/theme1.xml><?xml version="1.0" encoding="utf-8"?>
<a:theme xmlns:a="http://schemas.openxmlformats.org/drawingml/2006/main" name="Content Slid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1474</Words>
  <Application>Microsoft Office PowerPoint</Application>
  <PresentationFormat>On-screen Show (16:9)</PresentationFormat>
  <Paragraphs>127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Times New Roman</vt:lpstr>
      <vt:lpstr>Content Slide</vt:lpstr>
      <vt:lpstr>X-ray Detector Simulation Project using GEANT4 and COMSOL</vt:lpstr>
      <vt:lpstr>Outline </vt:lpstr>
      <vt:lpstr>Timeline </vt:lpstr>
      <vt:lpstr>Objectives/Goals</vt:lpstr>
      <vt:lpstr>Introduction </vt:lpstr>
      <vt:lpstr>Introduction </vt:lpstr>
      <vt:lpstr>Introduction </vt:lpstr>
      <vt:lpstr>Introduction </vt:lpstr>
      <vt:lpstr>Introduction </vt:lpstr>
      <vt:lpstr>GEANT4 - TestEm4 Example</vt:lpstr>
      <vt:lpstr>GEANT4 - GEARS Open Source Application</vt:lpstr>
      <vt:lpstr>Comsol Simulation Purpose</vt:lpstr>
      <vt:lpstr>Comsol Parameters</vt:lpstr>
      <vt:lpstr>Comsol Results</vt:lpstr>
      <vt:lpstr>Comsol Results Continued</vt:lpstr>
      <vt:lpstr>Advantages and Disadvantages</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X-ray Detector Simulation Project using GEANT4 and COMSOL</dc:title>
  <cp:lastModifiedBy>Sherif, Ayub M.</cp:lastModifiedBy>
  <cp:revision>2</cp:revision>
  <dcterms:modified xsi:type="dcterms:W3CDTF">2022-04-03T15:01:36Z</dcterms:modified>
</cp:coreProperties>
</file>